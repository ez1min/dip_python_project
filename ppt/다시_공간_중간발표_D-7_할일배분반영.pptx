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640080"/>
            <a:ext cx="128381" cy="375269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7816" y="610453"/>
            <a:ext cx="128381" cy="28639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7816" y="916594"/>
            <a:ext cx="128381" cy="148132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171717"/>
                </a:solidFill>
                <a:latin typeface="맑은 고딕"/>
              </a:rPr>
              <a:t>다시, 공간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2057400" cy="329184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MIDTERM PROGRESS · D-7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594360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71717"/>
                </a:solidFill>
                <a:latin typeface="맑은 고딕"/>
              </a:rPr>
              <a:t>완성 발표가 아니라,
지금 어디까지 왔는지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55264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157F5"/>
                </a:solidFill>
                <a:latin typeface="맑은 고딕"/>
              </a:rPr>
              <a:t>현재 상태</a:t>
            </a:r>
            <a:r>
              <a:rPr sz="2300" b="1">
                <a:solidFill>
                  <a:srgbClr val="171717"/>
                </a:solidFill>
                <a:latin typeface="맑은 고딕"/>
              </a:rPr>
              <a:t>와 </a:t>
            </a:r>
            <a:r>
              <a:rPr sz="2300" b="1">
                <a:solidFill>
                  <a:srgbClr val="FF6433"/>
                </a:solidFill>
                <a:latin typeface="맑은 고딕"/>
              </a:rPr>
              <a:t>남은 1주</a:t>
            </a:r>
            <a:r>
              <a:rPr sz="2300" b="1">
                <a:solidFill>
                  <a:srgbClr val="171717"/>
                </a:solidFill>
                <a:latin typeface="맑은 고딕"/>
              </a:rPr>
              <a:t>를 공유합니다.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114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A62"/>
                </a:solidFill>
                <a:latin typeface="맑은 고딕"/>
              </a:rPr>
              <a:t>대구광역시 유휴시설 추천 및 매칭 플랫폼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989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A62"/>
                </a:solidFill>
                <a:latin typeface="맑은 고딕"/>
              </a:rPr>
              <a:t>파이썬 1팀  |  2026. 08. 18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566928"/>
            <a:ext cx="2743200" cy="2743200"/>
          </a:xfrm>
          <a:prstGeom prst="ellipse">
            <a:avLst/>
          </a:prstGeom>
          <a:solidFill>
            <a:srgbClr val="E8EDFF"/>
          </a:solidFill>
          <a:ln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56832" y="1325880"/>
            <a:ext cx="466344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6276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57F5"/>
                </a:solidFill>
                <a:latin typeface="맑은 고딕"/>
              </a:rPr>
              <a:t>PROJECT 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14432" y="1563624"/>
            <a:ext cx="621792" cy="292608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14432" y="157276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D-7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6872" y="2194560"/>
            <a:ext cx="3977639" cy="713232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34086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AA876"/>
                </a:solidFill>
                <a:latin typeface="맑은 고딕"/>
              </a:rPr>
              <a:t>동작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3500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171717"/>
                </a:solidFill>
                <a:latin typeface="맑은 고딕"/>
              </a:rPr>
              <a:t>탐색 · 지도 · 추천 ·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2633472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2" y="3127248"/>
            <a:ext cx="3977639" cy="713232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2735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연결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28269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171717"/>
                </a:solidFill>
                <a:latin typeface="맑은 고딕"/>
              </a:rPr>
              <a:t>신청 · 관리자 ·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3566160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FF6433"/>
                </a:solidFill>
                <a:latin typeface="맑은 고딕"/>
              </a:rPr>
              <a:t>진행 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6872" y="4059935"/>
            <a:ext cx="3977639" cy="713232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42062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E6A62"/>
                </a:solidFill>
                <a:latin typeface="맑은 고딕"/>
              </a:rPr>
              <a:t>이번 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21538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171717"/>
                </a:solidFill>
                <a:latin typeface="맑은 고딕"/>
              </a:rPr>
              <a:t>인증 · API · DB · 통합 테스트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4498848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E6A62"/>
                </a:solidFill>
                <a:latin typeface="맑은 고딕"/>
              </a:rPr>
              <a:t>미착수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6872" y="5138928"/>
            <a:ext cx="3977639" cy="310896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5212080"/>
            <a:ext cx="39776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>
                <a:solidFill>
                  <a:srgbClr val="FFFFFF"/>
                </a:solidFill>
                <a:latin typeface="맑은 고딕"/>
              </a:rPr>
              <a:t>목표: 일주일 안에 프론트–백엔드 통합 흐름 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01 / CURRENT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현재 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프론트 시연은 가능하지만 서비스 구조의 핵심 연결부는 아직 진행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" y="1901952"/>
            <a:ext cx="10817352" cy="1078992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2199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D166"/>
                </a:solidFill>
                <a:latin typeface="맑은 고딕"/>
              </a:rPr>
              <a:t>프론트엔드 프로토타입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은 동작하고, </a:t>
            </a:r>
            <a:r>
              <a:rPr sz="2000" b="1">
                <a:solidFill>
                  <a:srgbClr val="FF6433"/>
                </a:solidFill>
                <a:latin typeface="맑은 고딕"/>
              </a:rPr>
              <a:t>백엔드·실데이터·권한·통합 테스트</a:t>
            </a:r>
            <a:r>
              <a:rPr sz="2000" b="1">
                <a:solidFill>
                  <a:srgbClr val="FFFFFF"/>
                </a:solidFill>
                <a:latin typeface="맑은 고딕"/>
              </a:rPr>
              <a:t>가 남았습니다.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3401568"/>
            <a:ext cx="242316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3401568"/>
            <a:ext cx="73152" cy="129844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566160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AA876"/>
                </a:solidFill>
                <a:latin typeface="맑은 고딕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05656"/>
            <a:ext cx="2011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프론트 기준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MVP 9개 흐름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3401568"/>
            <a:ext cx="242316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3401568"/>
            <a:ext cx="73152" cy="129844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3566160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6433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105656"/>
            <a:ext cx="2011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부분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438912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로컬 저장·모의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4728" y="3401568"/>
            <a:ext cx="242316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24728" y="3401568"/>
            <a:ext cx="73152" cy="1298448"/>
          </a:xfrm>
          <a:prstGeom prst="rect">
            <a:avLst/>
          </a:prstGeom>
          <a:solidFill>
            <a:srgbClr val="6E6A62"/>
          </a:solidFill>
          <a:ln w="12700">
            <a:solidFill>
              <a:srgbClr val="6E6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3566160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6E6A62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105656"/>
            <a:ext cx="2011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미착수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38912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회원·권한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5048" y="3401568"/>
            <a:ext cx="242316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85048" y="3401568"/>
            <a:ext cx="73152" cy="1298448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3566160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3157F5"/>
                </a:solidFill>
                <a:latin typeface="맑은 고딕"/>
              </a:rPr>
              <a:t>7일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2011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남은 기간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38912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통합과 안정화 우선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5074920"/>
            <a:ext cx="10104120" cy="841248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3583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57F5"/>
                </a:solidFill>
                <a:latin typeface="맑은 고딕"/>
              </a:rPr>
              <a:t>발표 관점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5312664"/>
            <a:ext cx="8211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오늘은 ‘가능성을 증명한 화면’과 ‘아직 연결되지 않은 부분’을 함께 보여드립니다.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02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이번 중간발표에서 확인받을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전체 서비스 완성이 아니라 핵심 사용자 흐름과 구현 방향을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04088" y="1901952"/>
            <a:ext cx="5074920" cy="39867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94560"/>
            <a:ext cx="1389888" cy="292608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03703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AA876"/>
                </a:solidFill>
                <a:latin typeface="맑은 고딕"/>
              </a:rPr>
              <a:t>이번에 보여주는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066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1717"/>
                </a:solidFill>
                <a:latin typeface="맑은 고딕"/>
              </a:rPr>
              <a:t>프론트 핵심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227832"/>
            <a:ext cx="42519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12개 샘플 공간 목록·상세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지역·용도·예산·면적·주차 필터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지도 마커와 결과 동시 갱신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규칙 기반 추천과 추천 이유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관심 저장·방문/이용 신청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901952"/>
            <a:ext cx="5449824" cy="3986784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194560"/>
            <a:ext cx="2011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037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아직 완성으로 말하지 않는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0662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1717"/>
                </a:solidFill>
                <a:latin typeface="맑은 고딕"/>
              </a:rPr>
              <a:t>서비스화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227832"/>
            <a:ext cx="446227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FastAPI 실제 API와 PostgreSQL 저장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회원가입·로그인·JWT·권한 분리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공공데이터 수집·정제 자동화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신청 승인/거절과 사용자 상태 조회</a:t>
            </a:r>
          </a:p>
          <a:p>
            <a:pPr>
              <a:spcAft>
                <a:spcPts val="900"/>
              </a:spcAft>
            </a:pPr>
            <a:r>
              <a:rPr sz="1220">
                <a:solidFill>
                  <a:srgbClr val="171717"/>
                </a:solidFill>
                <a:latin typeface="맑은 고딕"/>
              </a:rPr>
              <a:t>•  통합·예외·배포·사용성 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5623560"/>
            <a:ext cx="3520440" cy="512064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5779008"/>
            <a:ext cx="3520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맑은 고딕"/>
              </a:rPr>
              <a:t>이 항목들이 남은 1주의 핵심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03 / MVP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기획한 MVP 9개 흐름의 현재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‘코드가 있음’이 아니라 실제 동작 범위를 기준으로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3232" y="1828800"/>
            <a:ext cx="1371600" cy="4114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938528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4831" y="1828800"/>
            <a:ext cx="4572000" cy="4114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3703" y="1938528"/>
            <a:ext cx="43708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현재 동작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56832" y="1828800"/>
            <a:ext cx="1097280" cy="4114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5704" y="1938528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54112" y="1828800"/>
            <a:ext cx="2743200" cy="4114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1938528"/>
            <a:ext cx="2542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남은 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97312" y="1828800"/>
            <a:ext cx="713232" cy="4114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16184" y="1938528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담당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240280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84831" y="2240280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56832" y="2240280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54112" y="2240280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97312" y="2240280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38658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회원·권한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2" y="236829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화면/로직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2372868"/>
            <a:ext cx="731520" cy="265176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2382012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6E6A62"/>
                </a:solidFill>
                <a:latin typeface="맑은 고딕"/>
              </a:rPr>
              <a:t>미착수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416" y="2368296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JWT·권한별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238658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재연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2660904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4831" y="2660904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56832" y="2660904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54112" y="2660904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97312" y="2660904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28072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공간 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1992" y="278892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data.js 샘플 12건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39712" y="2793492"/>
            <a:ext cx="731520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2802636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진행 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6" y="2788920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DB·공공데이터 적재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280720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규범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3081528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84831" y="3081528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56832" y="3081528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54112" y="3081528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97312" y="3081528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32278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목록·상세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3209544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카드·상세 모달 동작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39712" y="3214116"/>
            <a:ext cx="731520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9712" y="3223260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0416" y="320954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API 응답 연결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22783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지민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3502152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84831" y="3502152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56832" y="3502152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54112" y="3502152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97312" y="3502152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364845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복합 검색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21992" y="3630168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지역·가격·면적·용도·주차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39712" y="3634740"/>
            <a:ext cx="731520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39712" y="3643884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0416" y="363016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쿼리 API 연결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364845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지민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" y="3922776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84831" y="3922776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56832" y="3922776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54112" y="3922776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497312" y="3922776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406908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지도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21992" y="4050791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Leaflet 마커·결과 갱신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055363"/>
            <a:ext cx="731520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39712" y="4064507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00416" y="4050791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Kakao Map·주변정보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406908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선이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" y="4343400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84831" y="4343400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656832" y="4343400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54112" y="4343400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497312" y="4343400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8" y="448970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맞춤 추천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21992" y="4471416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점수·상위 3개·이유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39712" y="4475988"/>
            <a:ext cx="731520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9712" y="4485131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0416" y="4471416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가중치 검증·API화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61320" y="448970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선이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" y="4764024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084831" y="4764024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656832" y="4764024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54112" y="4764024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97312" y="4764024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8" y="49103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관심 저장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21992" y="4892040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localStorage 등록/해제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39712" y="4896612"/>
            <a:ext cx="731520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39712" y="4905756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00416" y="4892040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사용자 DB 연결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491032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지민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" y="5184648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084831" y="5184648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656832" y="5184648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54112" y="5184648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497312" y="5184648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1248" y="5330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방문·신청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21992" y="5312664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로컬 입력·접수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39712" y="5317236"/>
            <a:ext cx="731520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39712" y="5326379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진행 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0416" y="531266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저장·상태 조회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61320" y="533095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재연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3232" y="5605272"/>
            <a:ext cx="13716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084831" y="5605272"/>
            <a:ext cx="45720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656832" y="5605272"/>
            <a:ext cx="10972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754112" y="5605272"/>
            <a:ext cx="27432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497312" y="5605272"/>
            <a:ext cx="713232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1248" y="57515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관리자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221992" y="5733288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현황·공간 상태 변경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39712" y="5737860"/>
            <a:ext cx="731520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39712" y="5747004"/>
            <a:ext cx="7315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진행 중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00416" y="573328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E6A62"/>
                </a:solidFill>
                <a:latin typeface="맑은 고딕"/>
              </a:rPr>
              <a:t>CRUD·신청 승인 연동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61320" y="57515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재연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04 / CURRENT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현재 확인 가능한 프론트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디자인과 상호작용은 구현됐지만 데이터는 아직 브라우저 내부에 머물러 있음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47088"/>
            <a:ext cx="6812280" cy="4169663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rcRect t="2426" b="2426"/>
          <a:stretch>
            <a:fillRect/>
          </a:stretch>
        </p:blipFill>
        <p:spPr>
          <a:xfrm>
            <a:off x="832104" y="1993392"/>
            <a:ext cx="6519672" cy="38770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9264" y="2139696"/>
            <a:ext cx="969264" cy="27432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48839"/>
            <a:ext cx="969264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맑은 고딕"/>
              </a:rPr>
              <a:t>현재 실행본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93852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71717"/>
                </a:solidFill>
                <a:latin typeface="맑은 고딕"/>
              </a:rPr>
              <a:t>오늘 시연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423160"/>
            <a:ext cx="320040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80">
                <a:solidFill>
                  <a:srgbClr val="171717"/>
                </a:solidFill>
                <a:latin typeface="맑은 고딕"/>
              </a:rPr>
              <a:t>•  메인 → 공간 탐색</a:t>
            </a:r>
          </a:p>
          <a:p>
            <a:pPr>
              <a:spcAft>
                <a:spcPts val="900"/>
              </a:spcAft>
            </a:pPr>
            <a:r>
              <a:rPr sz="1180">
                <a:solidFill>
                  <a:srgbClr val="171717"/>
                </a:solidFill>
                <a:latin typeface="맑은 고딕"/>
              </a:rPr>
              <a:t>•  복합 필터와 정렬</a:t>
            </a:r>
          </a:p>
          <a:p>
            <a:pPr>
              <a:spcAft>
                <a:spcPts val="900"/>
              </a:spcAft>
            </a:pPr>
            <a:r>
              <a:rPr sz="1180">
                <a:solidFill>
                  <a:srgbClr val="171717"/>
                </a:solidFill>
                <a:latin typeface="맑은 고딕"/>
              </a:rPr>
              <a:t>•  지도 결과 표시</a:t>
            </a:r>
          </a:p>
          <a:p>
            <a:pPr>
              <a:spcAft>
                <a:spcPts val="900"/>
              </a:spcAft>
            </a:pPr>
            <a:r>
              <a:rPr sz="1180">
                <a:solidFill>
                  <a:srgbClr val="171717"/>
                </a:solidFill>
                <a:latin typeface="맑은 고딕"/>
              </a:rPr>
              <a:t>•  추천 → 상세 → 저장 → 신청</a:t>
            </a:r>
          </a:p>
          <a:p>
            <a:pPr>
              <a:spcAft>
                <a:spcPts val="900"/>
              </a:spcAft>
            </a:pPr>
            <a:r>
              <a:rPr sz="1180">
                <a:solidFill>
                  <a:srgbClr val="171717"/>
                </a:solidFill>
                <a:latin typeface="맑은 고딕"/>
              </a:rPr>
              <a:t>•  운영센터 공간 상태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444398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71717"/>
                </a:solidFill>
                <a:latin typeface="맑은 고딕"/>
              </a:rPr>
              <a:t>현재 제약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846320"/>
            <a:ext cx="331012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6E6A62"/>
                </a:solidFill>
                <a:latin typeface="맑은 고딕"/>
              </a:rPr>
              <a:t>•  새로고침 이후 상태는 브라우저 저장소 의존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6E6A62"/>
                </a:solidFill>
                <a:latin typeface="맑은 고딕"/>
              </a:rPr>
              <a:t>•  이미지·지도는 외부 CDN/네트워크 필요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6E6A62"/>
                </a:solidFill>
                <a:latin typeface="맑은 고딕"/>
              </a:rPr>
              <a:t>•  로그인 사용자 구분과 서버 검증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05 / ARCHITECTURE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현재 구조와 일주일 뒤 목표 구조의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UI를 다시 만드는 것이 아니라 데이터 연결부를 실제 서비스 계층으로 교체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8" y="1929384"/>
            <a:ext cx="658368" cy="29260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7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현재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86584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386584"/>
            <a:ext cx="1810512" cy="82296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992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화면 구조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1" y="2916936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386584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386584"/>
            <a:ext cx="1810512" cy="82296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51760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app.js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9992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상태·필터·추천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2916936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2386584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2386584"/>
            <a:ext cx="1810512" cy="82296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651760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data.js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9992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샘플 12건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50024" y="2916936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43216" y="2386584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2386584"/>
            <a:ext cx="1810512" cy="82296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2651760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localStorage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9992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관심·신청·상태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1160" y="2916936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74352" y="2386584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4352" y="2386584"/>
            <a:ext cx="1810512" cy="82296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0656" y="2651760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Leaflet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29992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지도 마커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3794760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6433"/>
                </a:solidFill>
                <a:latin typeface="맑은 고딕"/>
              </a:rPr>
              <a:t>교체해야 할 연결부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9904" y="3566160"/>
            <a:ext cx="0" cy="694944"/>
          </a:xfrm>
          <a:prstGeom prst="line">
            <a:avLst/>
          </a:prstGeom>
          <a:ln w="25400">
            <a:solidFill>
              <a:srgbClr val="FF6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9904" y="4261104"/>
            <a:ext cx="9144" cy="0"/>
          </a:xfrm>
          <a:prstGeom prst="line">
            <a:avLst/>
          </a:prstGeom>
          <a:ln w="25400">
            <a:solidFill>
              <a:srgbClr val="FF6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9808" y="4352544"/>
            <a:ext cx="822960" cy="292608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361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D-1 목표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791456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4791456"/>
            <a:ext cx="1810512" cy="82296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056632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4041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현재 UI 유지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87751" y="5321808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980944" y="4791456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80944" y="4791456"/>
            <a:ext cx="1810512" cy="82296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27248" y="5056632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REST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7248" y="54041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/api/v1 연결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818888" y="5321808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212080" y="4791456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12080" y="4791456"/>
            <a:ext cx="1810512" cy="82296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58384" y="5056632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FastAPI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58384" y="54041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인증·비즈니스 로직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50024" y="5321808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443216" y="4791456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43216" y="4791456"/>
            <a:ext cx="1810512" cy="82296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0" y="5056632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PostgreSQL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54041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실제 영속 데이터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81160" y="5321808"/>
            <a:ext cx="32918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674352" y="4791456"/>
            <a:ext cx="1810512" cy="1078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74352" y="4791456"/>
            <a:ext cx="1810512" cy="82296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656" y="5056632"/>
            <a:ext cx="15179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1717"/>
                </a:solidFill>
                <a:latin typeface="맑은 고딕"/>
              </a:rPr>
              <a:t>Public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0656" y="54041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수집·정제·갱신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06 / RECOMMENDATION WIP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추천 기능은 동작하지만 아직 ‘검증된 모델’은 아님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현재는 설명 가능한 규칙 기반 점수로 사용자 흐름을 먼저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01952"/>
            <a:ext cx="4983480" cy="3977639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2194560"/>
            <a:ext cx="896112" cy="292608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03703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AA876"/>
                </a:solidFill>
                <a:latin typeface="맑은 고딕"/>
              </a:rPr>
              <a:t>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97480"/>
            <a:ext cx="42245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717"/>
                </a:solidFill>
                <a:latin typeface="맑은 고딕"/>
              </a:rPr>
              <a:t>조건 입력 → 점수 계산 → TOP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328416"/>
            <a:ext cx="1143000" cy="5486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4290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지역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419856"/>
            <a:ext cx="393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6433"/>
                </a:solidFill>
                <a:latin typeface="맑은 고딕"/>
              </a:rPr>
              <a:t>+25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3328416"/>
            <a:ext cx="1143000" cy="5486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34290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용도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3419856"/>
            <a:ext cx="393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+30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3328416"/>
            <a:ext cx="1143000" cy="5486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34290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예산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3419856"/>
            <a:ext cx="393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AA876"/>
                </a:solidFill>
                <a:latin typeface="맑은 고딕"/>
              </a:rPr>
              <a:t>+20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" y="4078224"/>
            <a:ext cx="1143000" cy="5486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7880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면적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169663"/>
            <a:ext cx="393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DBC9"/>
                </a:solidFill>
                <a:latin typeface="맑은 고딕"/>
              </a:rPr>
              <a:t>+10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22576" y="4078224"/>
            <a:ext cx="1143000" cy="5486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2304" y="417880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5224" y="4169663"/>
            <a:ext cx="393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+8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029200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A62"/>
                </a:solidFill>
                <a:latin typeface="맑은 고딕"/>
              </a:rPr>
              <a:t>추천 이유: 선호 지역 · 용도 적합 · 예산 이내 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71032" y="1901952"/>
            <a:ext cx="5532120" cy="3977639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91072" y="2194560"/>
            <a:ext cx="9144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2203703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남은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269748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717"/>
                </a:solidFill>
                <a:latin typeface="맑은 고딕"/>
              </a:rPr>
              <a:t>일주일 안에 확인할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73552"/>
            <a:ext cx="4434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FF6433"/>
                </a:solidFill>
                <a:latin typeface="맑은 고딕"/>
              </a:rPr>
              <a:t>•  데이터  </a:t>
            </a:r>
            <a:r>
              <a:rPr sz="1100">
                <a:solidFill>
                  <a:srgbClr val="171717"/>
                </a:solidFill>
                <a:latin typeface="맑은 고딕"/>
              </a:rPr>
              <a:t>실제 공간 분포에서 점수 쏠림 확인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F6433"/>
                </a:solidFill>
                <a:latin typeface="맑은 고딕"/>
              </a:rPr>
              <a:t>•  가중치  </a:t>
            </a:r>
            <a:r>
              <a:rPr sz="1100">
                <a:solidFill>
                  <a:srgbClr val="171717"/>
                </a:solidFill>
                <a:latin typeface="맑은 고딕"/>
              </a:rPr>
              <a:t>사용 목적별 중요도 조정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F6433"/>
                </a:solidFill>
                <a:latin typeface="맑은 고딕"/>
              </a:rPr>
              <a:t>•  예외  </a:t>
            </a:r>
            <a:r>
              <a:rPr sz="1100">
                <a:solidFill>
                  <a:srgbClr val="171717"/>
                </a:solidFill>
                <a:latin typeface="맑은 고딕"/>
              </a:rPr>
              <a:t>조건을 충족하는 공간이 없을 때 처리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F6433"/>
                </a:solidFill>
                <a:latin typeface="맑은 고딕"/>
              </a:rPr>
              <a:t>•  API  </a:t>
            </a:r>
            <a:r>
              <a:rPr sz="1100">
                <a:solidFill>
                  <a:srgbClr val="171717"/>
                </a:solidFill>
                <a:latin typeface="맑은 고딕"/>
              </a:rPr>
              <a:t>입력·출력 형식을 /recommendations와 통일</a:t>
            </a:r>
          </a:p>
          <a:p>
            <a:pPr>
              <a:spcAft>
                <a:spcPts val="900"/>
              </a:spcAft>
            </a:pPr>
            <a:r>
              <a:rPr sz="1100" b="1">
                <a:solidFill>
                  <a:srgbClr val="FF6433"/>
                </a:solidFill>
                <a:latin typeface="맑은 고딕"/>
              </a:rPr>
              <a:t>•  평가  </a:t>
            </a:r>
            <a:r>
              <a:rPr sz="1100">
                <a:solidFill>
                  <a:srgbClr val="171717"/>
                </a:solidFill>
                <a:latin typeface="맑은 고딕"/>
              </a:rPr>
              <a:t>샘플 사용자 시나리오로 추천 결과 점검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5358384"/>
            <a:ext cx="3383280" cy="365760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545896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발표에서는 ‘초기 규칙 기반’이라고 명시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07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담당자별 현재 위치와 다음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남은 일주일 동안 서로 기다리지 않도록 산출물과 연결 시점을 명확히 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4944" y="1901952"/>
            <a:ext cx="2487168" cy="3931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1901952"/>
            <a:ext cx="2487168" cy="100584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2212848"/>
            <a:ext cx="402336" cy="402336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31720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5" y="2157984"/>
            <a:ext cx="11704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717"/>
                </a:solidFill>
                <a:latin typeface="맑은 고딕"/>
              </a:rPr>
              <a:t>지민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743200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157F5"/>
                </a:solidFill>
                <a:latin typeface="맑은 고딕"/>
              </a:rPr>
              <a:t>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3127248"/>
            <a:ext cx="658368" cy="246888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136391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E6A62"/>
                </a:solidFill>
                <a:latin typeface="맑은 고딕"/>
              </a:rPr>
              <a:t>담당 업무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493008"/>
            <a:ext cx="19933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회원가입·로그인·메인 화면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검색/필터·공간 목록/상세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관심 비교·문의/방문 화면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반응형 UI와 API 화면 연결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5047488"/>
            <a:ext cx="1984247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3544" y="528523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3157F5"/>
                </a:solidFill>
                <a:latin typeface="맑은 고딕"/>
              </a:rPr>
              <a:t>이번 주: API 연결·오류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901952"/>
            <a:ext cx="2487168" cy="3931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1901952"/>
            <a:ext cx="2487168" cy="100584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85032" y="2212848"/>
            <a:ext cx="402336" cy="402336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2331720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2157984"/>
            <a:ext cx="11704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717"/>
                </a:solidFill>
                <a:latin typeface="맑은 고딕"/>
              </a:rPr>
              <a:t>재연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743200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6433"/>
                </a:solidFill>
                <a:latin typeface="맑은 고딕"/>
              </a:rPr>
              <a:t>BACKEND·DB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127248"/>
            <a:ext cx="658368" cy="246888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136391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E6A62"/>
                </a:solidFill>
                <a:latin typeface="맑은 고딕"/>
              </a:rPr>
              <a:t>담당 업무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493008"/>
            <a:ext cx="19933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FastAPI·PostgreSQL·SQLAlchemy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회원·공간·관심·문의·매칭 API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인증·검색·신청 상태 관리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관리자 CRUD·프론트 연결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03320" y="5047488"/>
            <a:ext cx="1984248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03320" y="528523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FF6433"/>
                </a:solidFill>
                <a:latin typeface="맑은 고딕"/>
              </a:rPr>
              <a:t>이번 주: 인증·공간·신청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901952"/>
            <a:ext cx="2487168" cy="3931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901952"/>
            <a:ext cx="2487168" cy="100584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8" y="2212848"/>
            <a:ext cx="402336" cy="402336"/>
          </a:xfrm>
          <a:prstGeom prst="ellipse">
            <a:avLst/>
          </a:prstGeom>
          <a:solidFill>
            <a:srgbClr val="2AA876"/>
          </a:solidFill>
          <a:ln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331720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2157984"/>
            <a:ext cx="11704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717"/>
                </a:solidFill>
                <a:latin typeface="맑은 고딕"/>
              </a:rPr>
              <a:t>규범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3096" y="2743200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AA876"/>
                </a:solidFill>
                <a:latin typeface="맑은 고딕"/>
              </a:rPr>
              <a:t>DATA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3096" y="3127248"/>
            <a:ext cx="658368" cy="246888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3096" y="3136391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E6A62"/>
                </a:solidFill>
                <a:latin typeface="맑은 고딕"/>
              </a:rPr>
              <a:t>담당 업무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493008"/>
            <a:ext cx="19933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대구 공공데이터 API·크롤링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주소·면적·가격·유형 정규화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중복·결측·폐기 데이터 정제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DB 적재·주기적 갱신 코드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83096" y="5047488"/>
            <a:ext cx="1984248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83096" y="528523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AA876"/>
                </a:solidFill>
                <a:latin typeface="맑은 고딕"/>
              </a:rPr>
              <a:t>이번 주: 정제 seed 데이터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4272" y="1901952"/>
            <a:ext cx="2487168" cy="3931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34272" y="1901952"/>
            <a:ext cx="2487168" cy="10058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44584" y="2212848"/>
            <a:ext cx="402336" cy="402336"/>
          </a:xfrm>
          <a:prstGeom prst="ellipse">
            <a:avLst/>
          </a:prstGeom>
          <a:solidFill>
            <a:srgbClr val="171717"/>
          </a:solidFill>
          <a:ln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584" y="2331720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3224" y="2157984"/>
            <a:ext cx="11704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717"/>
                </a:solidFill>
                <a:latin typeface="맑은 고딕"/>
              </a:rPr>
              <a:t>선이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2743200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171717"/>
                </a:solidFill>
                <a:latin typeface="맑은 고딕"/>
              </a:rPr>
              <a:t>RECOMMEND·MAP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62872" y="3127248"/>
            <a:ext cx="658368" cy="246888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2872" y="3136391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6E6A62"/>
                </a:solidFill>
                <a:latin typeface="맑은 고딕"/>
              </a:rPr>
              <a:t>담당 업무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3493008"/>
            <a:ext cx="19933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조건 가중치·매칭 점수·정렬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Kakao Map 좌표·핀 마커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주변 교통·편의시설 정보</a:t>
            </a:r>
          </a:p>
          <a:p>
            <a:pPr>
              <a:spcAft>
                <a:spcPts val="600"/>
              </a:spcAft>
            </a:pPr>
            <a:r>
              <a:rPr sz="910">
                <a:solidFill>
                  <a:srgbClr val="171717"/>
                </a:solidFill>
                <a:latin typeface="맑은 고딕"/>
              </a:rPr>
              <a:t>•  Git 최종 통합·배포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62872" y="5047488"/>
            <a:ext cx="1984248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62872" y="5285232"/>
            <a:ext cx="19933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171717"/>
                </a:solidFill>
                <a:latin typeface="맑은 고딕"/>
              </a:rPr>
              <a:t>이번 주: 추천·지도·통합 빌드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5989320"/>
            <a:ext cx="3520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※ 발표/PPT 자료는 각자 파트 작성 후 팀에서 최종 취합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08 /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현재 막히는 지점과 이번 주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모든 기능을 넓히기보다 발표에 필요한 엔드투엔드 경로를 우선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10780776" cy="612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91440" cy="61264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29967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API 계약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020824"/>
            <a:ext cx="38221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A62"/>
                </a:solidFill>
                <a:latin typeface="맑은 고딕"/>
              </a:rPr>
              <a:t>프론트와 백엔드 필드명이 달라지면 통합 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029967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6433"/>
                </a:solidFill>
                <a:latin typeface="맑은 고딕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11679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오늘 요청/응답 스키마 고정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048255"/>
            <a:ext cx="1234440" cy="24688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057399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6433"/>
                </a:solidFill>
                <a:latin typeface="맑은 고딕"/>
              </a:rPr>
              <a:t>재연·지민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60903"/>
            <a:ext cx="10780776" cy="612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660903"/>
            <a:ext cx="91440" cy="61264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81635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실데이터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2807208"/>
            <a:ext cx="38221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A62"/>
                </a:solidFill>
                <a:latin typeface="맑은 고딕"/>
              </a:rPr>
              <a:t>샘플과 실제 데이터의 결측·중복·분류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281635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AA876"/>
                </a:solidFill>
                <a:latin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98063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필수 필드 기준과 seed 먼저 확정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834639"/>
            <a:ext cx="1234440" cy="246888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843783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AA876"/>
                </a:solidFill>
                <a:latin typeface="맑은 고딕"/>
              </a:rPr>
              <a:t>규범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447287"/>
            <a:ext cx="10780776" cy="612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447287"/>
            <a:ext cx="91440" cy="612648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602735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인증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3593591"/>
            <a:ext cx="38221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A62"/>
                </a:solidFill>
                <a:latin typeface="맑은 고딕"/>
              </a:rPr>
              <a:t>회원 전체 기능 구현 시 핵심 시연 흐름이 밀릴 수 있음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3602735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584447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일반/관리자 2권한으로 축소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3621023"/>
            <a:ext cx="1234440" cy="246888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3630167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재연·선이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233672"/>
            <a:ext cx="10780776" cy="612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233672"/>
            <a:ext cx="91440" cy="61264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4389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추천 신뢰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76272" y="4379976"/>
            <a:ext cx="38221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A62"/>
                </a:solidFill>
                <a:latin typeface="맑은 고딕"/>
              </a:rPr>
              <a:t>점수는 나오지만 결과 품질 근거가 아직 부족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72" y="43891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6433"/>
                </a:solidFill>
                <a:latin typeface="맑은 고딕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37083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대표 시나리오 5건으로 빠르게 검증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4407408"/>
            <a:ext cx="1234440" cy="24688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441655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6433"/>
                </a:solidFill>
                <a:latin typeface="맑은 고딕"/>
              </a:rPr>
              <a:t>선이·규범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020056"/>
            <a:ext cx="10780776" cy="612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020056"/>
            <a:ext cx="91440" cy="61264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51755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통합 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76272" y="5166360"/>
            <a:ext cx="38221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E6A62"/>
                </a:solidFill>
                <a:latin typeface="맑은 고딕"/>
              </a:rPr>
              <a:t>마지막 날 일괄 통합은 디버깅 위험이 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2472" y="517550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515721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D-4부터 매일 통합 빌드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5193792"/>
            <a:ext cx="1234440" cy="246888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5202936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71717"/>
                </a:solidFill>
                <a:latin typeface="맑은 고딕"/>
              </a:rPr>
              <a:t>전원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870448"/>
            <a:ext cx="10780776" cy="29260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934456"/>
            <a:ext cx="107807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6433"/>
                </a:solidFill>
                <a:latin typeface="맑은 고딕"/>
              </a:rPr>
              <a:t>범위 원칙: 비교·후기·시민 제보 같은 부가 기능은 이번 발표 이후로 미룸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09 / D-7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남은 일주일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백엔드 기반 → 통합 → 안정화 → 발표 순으로 범위를 잠금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965960"/>
            <a:ext cx="1993392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1993392" cy="100584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276856"/>
            <a:ext cx="1060704" cy="265176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60704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3157F5"/>
                </a:solidFill>
                <a:latin typeface="맑은 고딕"/>
              </a:rPr>
              <a:t>D-7 ~ D-6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1717"/>
                </a:solidFill>
                <a:latin typeface="맑은 고딕"/>
              </a:rPr>
              <a:t>계약 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609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API 스키마·DB·정제 데이터
추천 입력/출력 범위 확정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325112"/>
            <a:ext cx="160020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459943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전원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3685032"/>
            <a:ext cx="219456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62656" y="1965960"/>
            <a:ext cx="1993392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62656" y="1965960"/>
            <a:ext cx="1993392" cy="100584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45536" y="2276856"/>
            <a:ext cx="1060704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5536" y="2286000"/>
            <a:ext cx="1060704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6433"/>
                </a:solidFill>
                <a:latin typeface="맑은 고딕"/>
              </a:rPr>
              <a:t>D-5 ~ D-4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1717"/>
                </a:solidFill>
                <a:latin typeface="맑은 고딕"/>
              </a:rPr>
              <a:t>기반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3337560"/>
            <a:ext cx="1609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FastAPI·DB·JWT와
수집·정제 데이터 적재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45536" y="4325112"/>
            <a:ext cx="160020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45536" y="459943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6433"/>
                </a:solidFill>
                <a:latin typeface="맑은 고딕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489204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재연 · 규범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74336" y="3685032"/>
            <a:ext cx="219456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239512" y="1965960"/>
            <a:ext cx="1993392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39512" y="1965960"/>
            <a:ext cx="1993392" cy="100584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22392" y="2276856"/>
            <a:ext cx="1060704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2286000"/>
            <a:ext cx="1060704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AA876"/>
                </a:solidFill>
                <a:latin typeface="맑은 고딕"/>
              </a:rPr>
              <a:t>D-4 ~ D-3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2392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1717"/>
                </a:solidFill>
                <a:latin typeface="맑은 고딕"/>
              </a:rPr>
              <a:t>기능 통합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3337560"/>
            <a:ext cx="1609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프론트 REST 연결과
추천·지도 모듈 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22392" y="4325112"/>
            <a:ext cx="160020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22392" y="459943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A876"/>
                </a:solidFill>
                <a:latin typeface="맑은 고딕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392" y="489204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지민 · 재연 · 선이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51192" y="3685032"/>
            <a:ext cx="219456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16368" y="1965960"/>
            <a:ext cx="1993392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16368" y="1965960"/>
            <a:ext cx="1993392" cy="10058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99248" y="2276856"/>
            <a:ext cx="1060704" cy="265176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2286000"/>
            <a:ext cx="1060704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71717"/>
                </a:solidFill>
                <a:latin typeface="맑은 고딕"/>
              </a:rPr>
              <a:t>D-2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1717"/>
                </a:solidFill>
                <a:latin typeface="맑은 고딕"/>
              </a:rPr>
              <a:t>품질 점검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3337560"/>
            <a:ext cx="1609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추천 시나리오·예외·권한
모바일·통합 테스트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699248" y="4325112"/>
            <a:ext cx="160020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99248" y="459943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71717"/>
                </a:solidFill>
                <a:latin typeface="맑은 고딕"/>
              </a:rPr>
              <a:t>OWNER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89204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선이 · 규범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528048" y="3685032"/>
            <a:ext cx="219456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793224" y="1965960"/>
            <a:ext cx="1993392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93224" y="1965960"/>
            <a:ext cx="1993392" cy="100584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976104" y="2276856"/>
            <a:ext cx="1060704" cy="265176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76104" y="2286000"/>
            <a:ext cx="1060704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3157F5"/>
                </a:solidFill>
                <a:latin typeface="맑은 고딕"/>
              </a:rPr>
              <a:t>D-1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76104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1717"/>
                </a:solidFill>
                <a:latin typeface="맑은 고딕"/>
              </a:rPr>
              <a:t>발표 잠금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6104" y="3337560"/>
            <a:ext cx="1609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데모 데이터 고정·버그 동결
발표 리허설·백업 영상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76104" y="4325112"/>
            <a:ext cx="160020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976104" y="4599432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OWNER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4" y="489204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전원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5715000"/>
            <a:ext cx="8138160" cy="393192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1680" y="5824728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매일 18:00 통합 빌드 확인  ·  새 기능 추가보다 막힌 연결 해결 우선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10 / TODAY'S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오늘은 안정적으로 동작하는 범위만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완성된 척하지 않고 현재 코드로 확인 가능한 부분과 제한을 함께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04088" y="1920240"/>
            <a:ext cx="6629400" cy="39136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221992"/>
            <a:ext cx="1389888" cy="292608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3113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AA876"/>
                </a:solidFill>
                <a:latin typeface="맑은 고딕"/>
              </a:rPr>
              <a:t>시연 순서 · 약 60초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2770632"/>
            <a:ext cx="320040" cy="32004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798063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71717"/>
                </a:solidFill>
                <a:latin typeface="맑은 고딕"/>
              </a:rPr>
              <a:t>중구 · 문화예술 · 월 40만원 조건 검색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282696"/>
            <a:ext cx="320040" cy="32004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37413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10127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71717"/>
                </a:solidFill>
                <a:latin typeface="맑은 고딕"/>
              </a:rPr>
              <a:t>결과 목록과 지도 마커 갱신 확인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794760"/>
            <a:ext cx="320040" cy="32004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86200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822192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71717"/>
                </a:solidFill>
                <a:latin typeface="맑은 고딕"/>
              </a:rPr>
              <a:t>맞춤 추천 실행 → 점수와 추천 이유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306824"/>
            <a:ext cx="320040" cy="32004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98264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34256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71717"/>
                </a:solidFill>
                <a:latin typeface="맑은 고딕"/>
              </a:rPr>
              <a:t>상세 → 관심 저장 → 방문 신청 입력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4818888"/>
            <a:ext cx="320040" cy="320040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910327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463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71717"/>
                </a:solidFill>
                <a:latin typeface="맑은 고딕"/>
              </a:rPr>
              <a:t>운영센터에서 공간 상태 변경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920240"/>
            <a:ext cx="3895344" cy="3913632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8704" y="2221992"/>
            <a:ext cx="1335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2231136"/>
            <a:ext cx="13350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시연하지 않는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2852928"/>
            <a:ext cx="2907792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20">
                <a:solidFill>
                  <a:srgbClr val="171717"/>
                </a:solidFill>
                <a:latin typeface="맑은 고딕"/>
              </a:rPr>
              <a:t>•  회원가입·로그인</a:t>
            </a:r>
          </a:p>
          <a:p>
            <a:pPr>
              <a:spcAft>
                <a:spcPts val="900"/>
              </a:spcAft>
            </a:pPr>
            <a:r>
              <a:rPr sz="1120">
                <a:solidFill>
                  <a:srgbClr val="171717"/>
                </a:solidFill>
                <a:latin typeface="맑은 고딕"/>
              </a:rPr>
              <a:t>•  실제 서버·DB 저장</a:t>
            </a:r>
          </a:p>
          <a:p>
            <a:pPr>
              <a:spcAft>
                <a:spcPts val="900"/>
              </a:spcAft>
            </a:pPr>
            <a:r>
              <a:rPr sz="1120">
                <a:solidFill>
                  <a:srgbClr val="171717"/>
                </a:solidFill>
                <a:latin typeface="맑은 고딕"/>
              </a:rPr>
              <a:t>•  관리자 신청 승인/거절</a:t>
            </a:r>
          </a:p>
          <a:p>
            <a:pPr>
              <a:spcAft>
                <a:spcPts val="900"/>
              </a:spcAft>
            </a:pPr>
            <a:r>
              <a:rPr sz="1120">
                <a:solidFill>
                  <a:srgbClr val="171717"/>
                </a:solidFill>
                <a:latin typeface="맑은 고딕"/>
              </a:rPr>
              <a:t>•  공공데이터 자동 수집</a:t>
            </a:r>
          </a:p>
          <a:p>
            <a:pPr>
              <a:spcAft>
                <a:spcPts val="900"/>
              </a:spcAft>
            </a:pPr>
            <a:r>
              <a:rPr sz="1120">
                <a:solidFill>
                  <a:srgbClr val="171717"/>
                </a:solidFill>
                <a:latin typeface="맑은 고딕"/>
              </a:rPr>
              <a:t>•  배포 환경 성능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7848" y="4928616"/>
            <a:ext cx="3255264" cy="612648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5056632"/>
            <a:ext cx="32552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맑은 고딕"/>
              </a:rPr>
              <a:t>“이 부분은 현재 진행 중이며
D-3 통합 빌드에서 확인 예정입니다.”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640080"/>
            <a:ext cx="128381" cy="375269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7816" y="610453"/>
            <a:ext cx="128381" cy="28639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7816" y="916594"/>
            <a:ext cx="128381" cy="148132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FFFFFF"/>
                </a:solidFill>
                <a:latin typeface="맑은 고딕"/>
              </a:rPr>
              <a:t>다시, 공간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938528" cy="329184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NEXT CHECKPOINT · D-3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58521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맑은 고딕"/>
              </a:rPr>
              <a:t>지금은 화면을 만든 단계,
남은 일주일은 연결하고 검증하는 단계입니다.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49039"/>
            <a:ext cx="5166360" cy="1298448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050791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D166"/>
                </a:solidFill>
                <a:latin typeface="맑은 고딕"/>
              </a:rPr>
              <a:t>D-3에 다시 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62272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① 실제 DB 조회  ② 로그인 권한  ③ 신청 상태 반영
④ 추천 API 연결  ⑤ 모바일 핵심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4813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D166"/>
                </a:solidFill>
                <a:latin typeface="맑은 고딕"/>
              </a:rPr>
              <a:t>현재 필요한 피드백</a:t>
            </a:r>
          </a:p>
        </p:txBody>
      </p:sp>
      <p:sp>
        <p:nvSpPr>
          <p:cNvPr id="13" name="Oval 12"/>
          <p:cNvSpPr/>
          <p:nvPr/>
        </p:nvSpPr>
        <p:spPr>
          <a:xfrm>
            <a:off x="6839712" y="2121408"/>
            <a:ext cx="365760" cy="36576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128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48839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맑은 고딕"/>
              </a:rPr>
              <a:t>시연 흐름이 문제 해결을 잘 보여주는가?</a:t>
            </a:r>
          </a:p>
        </p:txBody>
      </p:sp>
      <p:sp>
        <p:nvSpPr>
          <p:cNvPr id="16" name="Oval 15"/>
          <p:cNvSpPr/>
          <p:nvPr/>
        </p:nvSpPr>
        <p:spPr>
          <a:xfrm>
            <a:off x="6839712" y="2944368"/>
            <a:ext cx="365760" cy="365760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303580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971799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맑은 고딕"/>
              </a:rPr>
              <a:t>추천 이유가 이해하기 쉬운가?</a:t>
            </a:r>
          </a:p>
        </p:txBody>
      </p:sp>
      <p:sp>
        <p:nvSpPr>
          <p:cNvPr id="19" name="Oval 18"/>
          <p:cNvSpPr/>
          <p:nvPr/>
        </p:nvSpPr>
        <p:spPr>
          <a:xfrm>
            <a:off x="6839712" y="3767328"/>
            <a:ext cx="365760" cy="36576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85876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794760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맑은 고딕"/>
              </a:rPr>
              <a:t>남은 범위에서 우선순위 조정이 필요한가?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9710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THANK YOU · 진행 상황 공유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97103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근거: 프젝2 소스 · 기획발표 · API/요구사항 정의서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다시, 공간 - D-7 중간 진행 공유</dc:title>
  <dc:subject>완성 발표가 아닌 현재 진행 상황, 리스크, 남은 1주 계획 공유</dc:subject>
  <dc:creator>파이썬 1팀</dc:creator>
  <cp:keywords/>
  <dc:description>프젝2 소스와 요구사항 정의서를 기준으로 현재/목표 구조를 분리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