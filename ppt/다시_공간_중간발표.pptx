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94360"/>
            <a:ext cx="136702" cy="399592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9769" y="562813"/>
            <a:ext cx="136702" cy="304952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9769" y="888796"/>
            <a:ext cx="136702" cy="157734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603504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1717"/>
                </a:solidFill>
                <a:latin typeface="맑은 고딕"/>
              </a:rPr>
              <a:t>다시, 공간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2560320" cy="329184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MIDTERM REVIEW · FRONTEND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65376"/>
            <a:ext cx="56235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71717"/>
                </a:solidFill>
                <a:latin typeface="맑은 고딕"/>
              </a:rPr>
              <a:t>기획에서 </a:t>
            </a:r>
            <a:r>
              <a:rPr sz="3400" b="1">
                <a:solidFill>
                  <a:srgbClr val="3157F5"/>
                </a:solidFill>
                <a:latin typeface="맑은 고딕"/>
              </a:rPr>
              <a:t>작동하는 경험</a:t>
            </a:r>
            <a:r>
              <a:rPr sz="3400" b="1">
                <a:solidFill>
                  <a:srgbClr val="171717"/>
                </a:solidFill>
                <a:latin typeface="맑은 고딕"/>
              </a:rPr>
              <a:t>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877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717"/>
                </a:solidFill>
                <a:latin typeface="맑은 고딕"/>
              </a:rPr>
              <a:t>대구광역시 유휴시설 추천 및 매칭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540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6A62"/>
                </a:solidFill>
                <a:latin typeface="맑은 고딕"/>
              </a:rPr>
              <a:t>중간 구현 현황 · 아키텍처 · 데모 흐름 · 다음 스프린트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822191"/>
            <a:ext cx="4937760" cy="11704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0690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6433"/>
                </a:solidFill>
                <a:latin typeface="맑은 고딕"/>
              </a:rPr>
              <a:t>현재 한 문장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005072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1717"/>
                </a:solidFill>
                <a:latin typeface="맑은 고딕"/>
              </a:rPr>
              <a:t>12개 공간을 탐색하고, 추천받고, 신청까지 이어지는
프론트엔드 MVP를 완성했습니다.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98017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1717"/>
                </a:solidFill>
                <a:latin typeface="맑은 고딕"/>
              </a:rPr>
              <a:t>파이썬 1팀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98017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6A62"/>
                </a:solidFill>
                <a:latin typeface="맑은 고딕"/>
              </a:rPr>
              <a:t>2026. 08. 18</a:t>
            </a:r>
          </a:p>
        </p:txBody>
      </p:sp>
      <p:sp>
        <p:nvSpPr>
          <p:cNvPr id="16" name="Oval 15"/>
          <p:cNvSpPr/>
          <p:nvPr/>
        </p:nvSpPr>
        <p:spPr>
          <a:xfrm>
            <a:off x="7607808" y="502920"/>
            <a:ext cx="2834640" cy="2834640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56832" y="1161288"/>
            <a:ext cx="4572000" cy="44074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31152" y="1481328"/>
            <a:ext cx="4023360" cy="43891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0" y="1627632"/>
            <a:ext cx="109728" cy="109728"/>
          </a:xfrm>
          <a:prstGeom prst="ellipse">
            <a:avLst/>
          </a:prstGeom>
          <a:solidFill>
            <a:srgbClr val="FF6433"/>
          </a:solidFill>
          <a:ln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627632"/>
            <a:ext cx="109728" cy="109728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155448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71717"/>
                </a:solidFill>
                <a:latin typeface="맑은 고딕"/>
              </a:rPr>
              <a:t>어떤 공간을 찾고 있나요?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6016" y="2121408"/>
            <a:ext cx="676656" cy="274320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130551"/>
            <a:ext cx="67665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FFFFFF"/>
                </a:solidFill>
                <a:latin typeface="맑은 고딕"/>
              </a:rPr>
              <a:t>중구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54112" y="2121408"/>
            <a:ext cx="1005840" cy="274320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4112" y="2130551"/>
            <a:ext cx="1005840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3157F5"/>
                </a:solidFill>
                <a:latin typeface="맑은 고딕"/>
              </a:rPr>
              <a:t>문화·예술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51392" y="2121408"/>
            <a:ext cx="1280160" cy="274320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51392" y="2130551"/>
            <a:ext cx="1280160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1">
                <a:solidFill>
                  <a:srgbClr val="171717"/>
                </a:solidFill>
                <a:latin typeface="맑은 고딕"/>
              </a:rPr>
              <a:t>월 40만원 이하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7728" y="2615184"/>
            <a:ext cx="39136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7728" y="2615184"/>
            <a:ext cx="109728" cy="621792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724912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71717"/>
                </a:solidFill>
                <a:latin typeface="맑은 고딕"/>
              </a:rPr>
              <a:t>삼덕 청년 예술창작 유휴창고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71800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E6A62"/>
                </a:solidFill>
                <a:latin typeface="맑은 고딕"/>
              </a:rPr>
              <a:t>중구 · 142.5㎡ · 월 35만원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2807208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157F5"/>
                </a:solidFill>
                <a:latin typeface="맑은 고딕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67728" y="3401568"/>
            <a:ext cx="39136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67728" y="3401568"/>
            <a:ext cx="109728" cy="621792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3511296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71717"/>
                </a:solidFill>
                <a:latin typeface="맑은 고딕"/>
              </a:rPr>
              <a:t>복현 청년 코워킹 베이스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758183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E6A62"/>
                </a:solidFill>
                <a:latin typeface="맑은 고딕"/>
              </a:rPr>
              <a:t>북구 · 88㎡ · 월 20만원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78440" y="3593591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157F5"/>
                </a:solidFill>
                <a:latin typeface="맑은 고딕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67728" y="4187952"/>
            <a:ext cx="39136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67728" y="4187952"/>
            <a:ext cx="109728" cy="621792"/>
          </a:xfrm>
          <a:prstGeom prst="rect">
            <a:avLst/>
          </a:prstGeom>
          <a:solidFill>
            <a:srgbClr val="8EDBC9"/>
          </a:solidFill>
          <a:ln w="12700">
            <a:solidFill>
              <a:srgbClr val="8ED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429768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71717"/>
                </a:solidFill>
                <a:latin typeface="맑은 고딕"/>
              </a:rPr>
              <a:t>대명동 복합 창작 스튜디오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544568"/>
            <a:ext cx="25603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E6A62"/>
                </a:solidFill>
                <a:latin typeface="맑은 고딕"/>
              </a:rPr>
              <a:t>남구 · 115.7㎡ · 월 30만원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4379976"/>
            <a:ext cx="256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157F5"/>
                </a:solidFill>
                <a:latin typeface="맑은 고딕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34272" y="4882896"/>
            <a:ext cx="1920240" cy="438912"/>
          </a:xfrm>
          <a:prstGeom prst="roundRect">
            <a:avLst/>
          </a:prstGeom>
          <a:solidFill>
            <a:srgbClr val="8EDBC9"/>
          </a:solidFill>
          <a:ln w="12700">
            <a:solidFill>
              <a:srgbClr val="8ED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34272" y="500176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71717"/>
                </a:solidFill>
                <a:latin typeface="맑은 고딕"/>
              </a:rPr>
              <a:t>추천 결과 TOP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4956048"/>
            <a:ext cx="1600200" cy="1143000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5212080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비어 있음이
끝은 아니니까.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01 /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지금 어디까지 왔나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기획 문서를 실행 가능한 프론트엔드 프로토타입으로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892807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6E6A62"/>
                </a:solidFill>
                <a:latin typeface="맑은 고딕"/>
              </a:rPr>
              <a:t>기획서·요구사항</a:t>
            </a:r>
            <a:r>
              <a:rPr sz="2100" b="1">
                <a:solidFill>
                  <a:srgbClr val="FF6433"/>
                </a:solidFill>
                <a:latin typeface="맑은 고딕"/>
              </a:rPr>
              <a:t>  →  </a:t>
            </a:r>
            <a:r>
              <a:rPr sz="2100" b="1">
                <a:solidFill>
                  <a:srgbClr val="3157F5"/>
                </a:solidFill>
                <a:latin typeface="맑은 고딕"/>
              </a:rPr>
              <a:t>작동하는 사용자 경험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32304"/>
            <a:ext cx="2487168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432304"/>
            <a:ext cx="73152" cy="1298448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596896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3157F5"/>
                </a:solidFill>
                <a:latin typeface="맑은 고딕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36392"/>
            <a:ext cx="2075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발굴 공간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419856"/>
            <a:ext cx="2075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샘플 데이터 12건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2432304"/>
            <a:ext cx="2487168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2432304"/>
            <a:ext cx="73152" cy="1298448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596896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F6433"/>
                </a:solidFill>
                <a:latin typeface="맑은 고딕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3136392"/>
            <a:ext cx="2075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대구 구·군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3419856"/>
            <a:ext cx="2075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전 구·군 데이터 포함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432304"/>
            <a:ext cx="2487168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2432304"/>
            <a:ext cx="73152" cy="1298448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2596896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AA876"/>
                </a:solidFill>
                <a:latin typeface="맑은 고딕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136392"/>
            <a:ext cx="2075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활용 유형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419856"/>
            <a:ext cx="2075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창업·예술·작업실 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2432304"/>
            <a:ext cx="2487168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7696" y="2432304"/>
            <a:ext cx="73152" cy="1298448"/>
          </a:xfrm>
          <a:prstGeom prst="rect">
            <a:avLst/>
          </a:prstGeom>
          <a:solidFill>
            <a:srgbClr val="1735B8"/>
          </a:solidFill>
          <a:ln w="12700">
            <a:solidFill>
              <a:srgbClr val="173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596896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35B8"/>
                </a:solidFill>
                <a:latin typeface="맑은 고딕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136392"/>
            <a:ext cx="20756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이용 가능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419856"/>
            <a:ext cx="20756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예약 1 · 리모델링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041648"/>
            <a:ext cx="6903720" cy="17556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3159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157F5"/>
                </a:solidFill>
                <a:latin typeface="맑은 고딕"/>
              </a:rPr>
              <a:t>현재 완성된 경험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626864"/>
            <a:ext cx="630936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3157F5"/>
                </a:solidFill>
                <a:latin typeface="맑은 고딕"/>
              </a:rPr>
              <a:t>•  탐색  </a:t>
            </a:r>
            <a:r>
              <a:rPr sz="1200">
                <a:solidFill>
                  <a:srgbClr val="171717"/>
                </a:solidFill>
                <a:latin typeface="맑은 고딕"/>
              </a:rPr>
              <a:t>지역·용도·임대료·면적·주차 복합 필터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157F5"/>
                </a:solidFill>
                <a:latin typeface="맑은 고딕"/>
              </a:rPr>
              <a:t>•  추천  </a:t>
            </a:r>
            <a:r>
              <a:rPr sz="1200">
                <a:solidFill>
                  <a:srgbClr val="171717"/>
                </a:solidFill>
                <a:latin typeface="맑은 고딕"/>
              </a:rPr>
              <a:t>점수 계산, 상위 3개, 추천 이유 제공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157F5"/>
                </a:solidFill>
                <a:latin typeface="맑은 고딕"/>
              </a:rPr>
              <a:t>•  전환  </a:t>
            </a:r>
            <a:r>
              <a:rPr sz="1200">
                <a:solidFill>
                  <a:srgbClr val="171717"/>
                </a:solidFill>
                <a:latin typeface="맑은 고딕"/>
              </a:rPr>
              <a:t>상세 → 관심 저장 → 방문·이용 신청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3157F5"/>
                </a:solidFill>
                <a:latin typeface="맑은 고딕"/>
              </a:rPr>
              <a:t>•  운영  </a:t>
            </a:r>
            <a:r>
              <a:rPr sz="1200">
                <a:solidFill>
                  <a:srgbClr val="171717"/>
                </a:solidFill>
                <a:latin typeface="맑은 고딕"/>
              </a:rPr>
              <a:t>공간 상태 변경, 대시보드, 동기화 시뮬레이션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45552" y="4041648"/>
            <a:ext cx="3675887" cy="1755648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31596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166"/>
                </a:solidFill>
                <a:latin typeface="맑은 고딕"/>
              </a:rPr>
              <a:t>코드 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473659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47457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FECE5"/>
                </a:solidFill>
                <a:latin typeface="맑은 고딕"/>
              </a:rPr>
              <a:t>332 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73659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CSS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7457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FECE5"/>
                </a:solidFill>
                <a:latin typeface="맑은 고딕"/>
              </a:rPr>
              <a:t>2,129 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513892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51480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FECE5"/>
                </a:solidFill>
                <a:latin typeface="맑은 고딕"/>
              </a:rPr>
              <a:t>544 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513892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</a:rPr>
              <a:t>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51480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FECE5"/>
                </a:solidFill>
                <a:latin typeface="맑은 고딕"/>
              </a:rPr>
              <a:t>679 lines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02 /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무엇을 해결하고, 이번 중간 단계에서 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80744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700784"/>
            <a:ext cx="4983480" cy="43159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0976" y="1956816"/>
            <a:ext cx="859536" cy="292608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65960"/>
            <a:ext cx="8595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6433"/>
                </a:solidFill>
                <a:latin typeface="맑은 고딕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450592"/>
            <a:ext cx="41605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71717"/>
                </a:solidFill>
                <a:latin typeface="맑은 고딕"/>
              </a:rPr>
              <a:t>빈 공간 정보는 흩어져 있고,
사용자는 ‘내 조건에 맞는가’를
판단하기 어렵습니다.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33087"/>
            <a:ext cx="41605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20">
                <a:solidFill>
                  <a:srgbClr val="6E6A62"/>
                </a:solidFill>
                <a:latin typeface="맑은 고딕"/>
              </a:rPr>
              <a:t>•  지역·기관별 정보가 분산되어 탐색 비용이 큼</a:t>
            </a:r>
          </a:p>
          <a:p>
            <a:pPr>
              <a:spcAft>
                <a:spcPts val="700"/>
              </a:spcAft>
            </a:pPr>
            <a:r>
              <a:rPr sz="1220">
                <a:solidFill>
                  <a:srgbClr val="6E6A62"/>
                </a:solidFill>
                <a:latin typeface="맑은 고딕"/>
              </a:rPr>
              <a:t>•  가격·면적·용도 조건을 한 번에 비교하기 어려움</a:t>
            </a:r>
          </a:p>
          <a:p>
            <a:pPr>
              <a:spcAft>
                <a:spcPts val="700"/>
              </a:spcAft>
            </a:pPr>
            <a:r>
              <a:rPr sz="1220">
                <a:solidFill>
                  <a:srgbClr val="6E6A62"/>
                </a:solidFill>
                <a:latin typeface="맑은 고딕"/>
              </a:rPr>
              <a:t>•  발견 이후 방문·이용 신청으로 이어지는 흐름이 단절됨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1888" y="1700784"/>
            <a:ext cx="5559552" cy="4315968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2784" y="1956816"/>
            <a:ext cx="129844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96596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MIDTERM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450592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맑은 고딕"/>
              </a:rPr>
              <a:t>검색 가능한 공간 카탈로그와
설명 가능한 추천 경험 구현</a:t>
            </a:r>
          </a:p>
        </p:txBody>
      </p:sp>
      <p:sp>
        <p:nvSpPr>
          <p:cNvPr id="15" name="Oval 14"/>
          <p:cNvSpPr/>
          <p:nvPr/>
        </p:nvSpPr>
        <p:spPr>
          <a:xfrm>
            <a:off x="6291072" y="3730752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3813048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157F5"/>
                </a:solidFill>
                <a:latin typeface="맑은 고딕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3739896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FFFFFF"/>
                </a:solidFill>
                <a:latin typeface="맑은 고딕"/>
              </a:rPr>
              <a:t>통합 탐색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749039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E8EDFF"/>
                </a:solidFill>
                <a:latin typeface="맑은 고딕"/>
              </a:rPr>
              <a:t>12개 공간 · 9개 구·군 · 복합 필터</a:t>
            </a:r>
          </a:p>
        </p:txBody>
      </p:sp>
      <p:sp>
        <p:nvSpPr>
          <p:cNvPr id="19" name="Oval 18"/>
          <p:cNvSpPr/>
          <p:nvPr/>
        </p:nvSpPr>
        <p:spPr>
          <a:xfrm>
            <a:off x="6291072" y="4352544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443484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157F5"/>
                </a:solidFill>
                <a:latin typeface="맑은 고딕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43616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FFFFFF"/>
                </a:solidFill>
                <a:latin typeface="맑은 고딕"/>
              </a:rPr>
              <a:t>맞춤 추천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370831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E8EDFF"/>
                </a:solidFill>
                <a:latin typeface="맑은 고딕"/>
              </a:rPr>
              <a:t>조건별 점수 · 상위 3개 · 추천 이유</a:t>
            </a:r>
          </a:p>
        </p:txBody>
      </p:sp>
      <p:sp>
        <p:nvSpPr>
          <p:cNvPr id="23" name="Oval 22"/>
          <p:cNvSpPr/>
          <p:nvPr/>
        </p:nvSpPr>
        <p:spPr>
          <a:xfrm>
            <a:off x="6291072" y="4974336"/>
            <a:ext cx="329184" cy="329184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5056632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3157F5"/>
                </a:solidFill>
                <a:latin typeface="맑은 고딕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498348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FFFFFF"/>
                </a:solidFill>
                <a:latin typeface="맑은 고딕"/>
              </a:rPr>
              <a:t>행동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99262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E8EDFF"/>
                </a:solidFill>
                <a:latin typeface="맑은 고딕"/>
              </a:rPr>
              <a:t>상세 · 저장 · 방문/이용 신청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5650992"/>
            <a:ext cx="2971800" cy="658368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5852160"/>
            <a:ext cx="2852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백엔드·실데이터 연동은 다음 단계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아키텍처 파이프라인과 상태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화면·도메인 로직·데이터 계층을 분리해 이후 REST API 교체가 가능하도록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993392"/>
            <a:ext cx="2121408" cy="2514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993392"/>
            <a:ext cx="2121408" cy="118872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433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15184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717"/>
                </a:solidFill>
                <a:latin typeface="맑은 고딕"/>
              </a:rPr>
              <a:t>사용자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54680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E6A62"/>
                </a:solidFill>
                <a:latin typeface="맑은 고딕"/>
              </a:rPr>
              <a:t>검색어 · 지역 · 용도
예산 · 면적 · 주차
저장 · 신청 · 관리자 액션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52928" y="3236976"/>
            <a:ext cx="256032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54680" y="1993392"/>
            <a:ext cx="2121408" cy="2514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993392"/>
            <a:ext cx="2121408" cy="118872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4136" y="228600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157F5"/>
                </a:solidFill>
                <a:latin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615184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717"/>
                </a:solidFill>
                <a:latin typeface="맑은 고딕"/>
              </a:rPr>
              <a:t>index.html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3154680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E6A62"/>
                </a:solidFill>
                <a:latin typeface="맑은 고딕"/>
              </a:rPr>
              <a:t>탐색 · 지도 · 추천
상세 · 관심공간
신청 · 운영센터 UI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94376" y="3236976"/>
            <a:ext cx="256032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96128" y="1993392"/>
            <a:ext cx="2121408" cy="2514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96128" y="1993392"/>
            <a:ext cx="2121408" cy="11887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4" y="228600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1717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2615184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717"/>
                </a:solidFill>
                <a:latin typeface="맑은 고딕"/>
              </a:rPr>
              <a:t>app.js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4" y="3154680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E6A62"/>
                </a:solidFill>
                <a:latin typeface="맑은 고딕"/>
              </a:rPr>
              <a:t>상태 관리 · 필터링
매칭 점수 · 렌더링
역할별 이벤트 처리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35824" y="3236976"/>
            <a:ext cx="256032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37575" y="1993392"/>
            <a:ext cx="2121408" cy="2514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1993392"/>
            <a:ext cx="2121408" cy="118872"/>
          </a:xfrm>
          <a:prstGeom prst="rect">
            <a:avLst/>
          </a:prstGeom>
          <a:solidFill>
            <a:srgbClr val="8EDBC9"/>
          </a:solidFill>
          <a:ln w="12700">
            <a:solidFill>
              <a:srgbClr val="8ED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2286000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EDBC9"/>
                </a:solidFill>
                <a:latin typeface="맑은 고딕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2615184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717"/>
                </a:solidFill>
                <a:latin typeface="맑은 고딕"/>
              </a:rPr>
              <a:t>데이터 계층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3154680"/>
            <a:ext cx="167335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E6A62"/>
                </a:solidFill>
                <a:latin typeface="맑은 고딕"/>
              </a:rPr>
              <a:t>data.js 초기 데이터
localStorage 지속 상태
Leaflet + OSM 지도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79024" y="1993392"/>
            <a:ext cx="1005840" cy="2514600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08208" y="2286000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D166"/>
                </a:solidFill>
                <a:latin typeface="맑은 고딕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743200"/>
            <a:ext cx="65836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화면
갱신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6768" y="3502152"/>
            <a:ext cx="5303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E8EDFF"/>
                </a:solidFill>
                <a:latin typeface="맑은 고딕"/>
              </a:rPr>
              <a:t>카드
마커
추천
지표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77272" y="3236976"/>
            <a:ext cx="246888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13232" y="4855464"/>
            <a:ext cx="10771632" cy="1033271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51572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D166"/>
                </a:solidFill>
                <a:latin typeface="맑은 고딕"/>
              </a:rPr>
              <a:t>교체 지점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7088" y="512064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data.js + localStorage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2191" y="510235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6433"/>
                </a:solidFill>
                <a:latin typeface="맑은 고딕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512064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FastAPI /api/v1 + PostgreSQL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5148072"/>
            <a:ext cx="30632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E8EDFF"/>
                </a:solidFill>
                <a:latin typeface="맑은 고딕"/>
              </a:rPr>
              <a:t>UI 흐름과 도메인 로직은 유지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04 /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사용자가 처음 만나는 경험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브랜드 메시지와 핵심 CTA를 한 화면에 배치한 반응형 랜딩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67512" y="1865376"/>
            <a:ext cx="6583680" cy="4096512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home.png"/>
          <p:cNvPicPr>
            <a:picLocks noChangeAspect="1"/>
          </p:cNvPicPr>
          <p:nvPr/>
        </p:nvPicPr>
        <p:blipFill>
          <a:blip r:embed="rId2"/>
          <a:srcRect t="1536" b="1536"/>
          <a:stretch>
            <a:fillRect/>
          </a:stretch>
        </p:blipFill>
        <p:spPr>
          <a:xfrm>
            <a:off x="804672" y="2002536"/>
            <a:ext cx="6309360" cy="38221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5256" y="2148840"/>
            <a:ext cx="1133856" cy="274320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212848"/>
            <a:ext cx="11338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LIVE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385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717"/>
                </a:solidFill>
                <a:latin typeface="맑은 고딕"/>
              </a:rPr>
              <a:t>첫 화면이 전달하는 것</a:t>
            </a:r>
          </a:p>
        </p:txBody>
      </p:sp>
      <p:sp>
        <p:nvSpPr>
          <p:cNvPr id="12" name="Oval 11"/>
          <p:cNvSpPr/>
          <p:nvPr/>
        </p:nvSpPr>
        <p:spPr>
          <a:xfrm>
            <a:off x="7644383" y="2468880"/>
            <a:ext cx="347472" cy="347472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44383" y="2560320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468880"/>
            <a:ext cx="1234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71717"/>
                </a:solidFill>
                <a:latin typeface="맑은 고딕"/>
              </a:rPr>
              <a:t>문제 공감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743200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‘비어 있던 곳에 다음 장면을’</a:t>
            </a:r>
          </a:p>
        </p:txBody>
      </p:sp>
      <p:sp>
        <p:nvSpPr>
          <p:cNvPr id="16" name="Oval 15"/>
          <p:cNvSpPr/>
          <p:nvPr/>
        </p:nvSpPr>
        <p:spPr>
          <a:xfrm>
            <a:off x="7644383" y="3218688"/>
            <a:ext cx="347472" cy="347472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3" y="3310128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3218688"/>
            <a:ext cx="1234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71717"/>
                </a:solidFill>
                <a:latin typeface="맑은 고딕"/>
              </a:rPr>
              <a:t>즉시 탐색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493008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공간 둘러보기 CTA</a:t>
            </a:r>
          </a:p>
        </p:txBody>
      </p:sp>
      <p:sp>
        <p:nvSpPr>
          <p:cNvPr id="20" name="Oval 19"/>
          <p:cNvSpPr/>
          <p:nvPr/>
        </p:nvSpPr>
        <p:spPr>
          <a:xfrm>
            <a:off x="7644383" y="3968496"/>
            <a:ext cx="347472" cy="347472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4383" y="4059935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3968496"/>
            <a:ext cx="1234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71717"/>
                </a:solidFill>
                <a:latin typeface="맑은 고딕"/>
              </a:rPr>
              <a:t>개인화 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242816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1분 맞춤 추천 CTA</a:t>
            </a:r>
          </a:p>
        </p:txBody>
      </p:sp>
      <p:sp>
        <p:nvSpPr>
          <p:cNvPr id="24" name="Oval 23"/>
          <p:cNvSpPr/>
          <p:nvPr/>
        </p:nvSpPr>
        <p:spPr>
          <a:xfrm>
            <a:off x="7644383" y="4718304"/>
            <a:ext cx="347472" cy="347472"/>
          </a:xfrm>
          <a:prstGeom prst="ellipse">
            <a:avLst/>
          </a:prstGeom>
          <a:solidFill>
            <a:srgbClr val="FF6433"/>
          </a:solidFill>
          <a:ln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44383" y="480974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4718304"/>
            <a:ext cx="1234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171717"/>
                </a:solidFill>
                <a:latin typeface="맑은 고딕"/>
              </a:rPr>
              <a:t>신뢰 지표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4992624"/>
            <a:ext cx="2880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12개 공간 · 9개 구·군 · 지원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6096" y="5559552"/>
            <a:ext cx="3611880" cy="457200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5687568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3157F5"/>
                </a:solidFill>
                <a:latin typeface="맑은 고딕"/>
              </a:rPr>
              <a:t>PC·모바일 대응을 고려한 반응형 CSS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05 /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탐색 조건이 바뀌면 목록과 지도 마커가 함께 갱신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검색 → 필터 상태 → 결과 정렬 → 카드·통계·마커 렌더링의 단일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901952"/>
            <a:ext cx="6629400" cy="418795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157F5"/>
                </a:solidFill>
                <a:latin typeface="맑은 고딕"/>
              </a:rPr>
              <a:t>조건 패널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542032"/>
            <a:ext cx="4480560" cy="43891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660904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6E6A62"/>
                </a:solidFill>
                <a:latin typeface="맑은 고딕"/>
              </a:rPr>
              <a:t>공간명, 동네, 키워드로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0408" y="2542032"/>
            <a:ext cx="1417320" cy="438912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0408" y="26609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검색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3227832"/>
            <a:ext cx="658368" cy="283464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236975"/>
            <a:ext cx="65836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중구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0784" y="3227832"/>
            <a:ext cx="1024128" cy="283464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0784" y="3236975"/>
            <a:ext cx="10241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3157F5"/>
                </a:solidFill>
                <a:latin typeface="맑은 고딕"/>
              </a:rPr>
              <a:t>문화·예술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227832"/>
            <a:ext cx="1042415" cy="283464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3236975"/>
            <a:ext cx="1042415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171717"/>
                </a:solidFill>
                <a:latin typeface="맑은 고딕"/>
              </a:rPr>
              <a:t>월 40만원↓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3" y="3227832"/>
            <a:ext cx="804672" cy="283464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6783" y="3236975"/>
            <a:ext cx="80467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171717"/>
                </a:solidFill>
                <a:latin typeface="맑은 고딕"/>
              </a:rPr>
              <a:t>100㎡↑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01183" y="3227832"/>
            <a:ext cx="640080" cy="283464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3" y="3236975"/>
            <a:ext cx="6400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171717"/>
                </a:solidFill>
                <a:latin typeface="맑은 고딕"/>
              </a:rPr>
              <a:t>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75818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1717"/>
                </a:solidFill>
                <a:latin typeface="맑은 고딕"/>
              </a:rPr>
              <a:t>3개의 가능성을 찾았어요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" y="4142232"/>
            <a:ext cx="60350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688" y="4142232"/>
            <a:ext cx="82296" cy="420624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4242816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71717"/>
                </a:solidFill>
                <a:latin typeface="맑은 고딕"/>
              </a:rPr>
              <a:t>삼덕 청년 예술창작 유휴창고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242816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E6A62"/>
                </a:solidFill>
                <a:latin typeface="맑은 고딕"/>
              </a:rPr>
              <a:t>중구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896" y="4242816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E6A62"/>
                </a:solidFill>
                <a:latin typeface="맑은 고딕"/>
              </a:rPr>
              <a:t>142.5㎡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24281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9" b="1">
                <a:solidFill>
                  <a:srgbClr val="3157F5"/>
                </a:solidFill>
                <a:latin typeface="맑은 고딕"/>
              </a:rPr>
              <a:t>월 35만원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4663440"/>
            <a:ext cx="60350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" y="4663440"/>
            <a:ext cx="82296" cy="420624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4764024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71717"/>
                </a:solidFill>
                <a:latin typeface="맑은 고딕"/>
              </a:rPr>
              <a:t>동성로 르네상스 팝업 스토어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7640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E6A62"/>
                </a:solidFill>
                <a:latin typeface="맑은 고딕"/>
              </a:rPr>
              <a:t>중구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82896" y="4764024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E6A62"/>
                </a:solidFill>
                <a:latin typeface="맑은 고딕"/>
              </a:rPr>
              <a:t>63.2㎡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476402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9" b="1">
                <a:solidFill>
                  <a:srgbClr val="3157F5"/>
                </a:solidFill>
                <a:latin typeface="맑은 고딕"/>
              </a:rPr>
              <a:t>월 45만원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" y="5184648"/>
            <a:ext cx="60350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2688" y="5184648"/>
            <a:ext cx="82296" cy="420624"/>
          </a:xfrm>
          <a:prstGeom prst="rect">
            <a:avLst/>
          </a:prstGeom>
          <a:solidFill>
            <a:srgbClr val="8EDBC9"/>
          </a:solidFill>
          <a:ln w="12700">
            <a:solidFill>
              <a:srgbClr val="8ED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2" y="5285232"/>
            <a:ext cx="3063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171717"/>
                </a:solidFill>
                <a:latin typeface="맑은 고딕"/>
              </a:rPr>
              <a:t>근대골목 주민 문화공간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28523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E6A62"/>
                </a:solidFill>
                <a:latin typeface="맑은 고딕"/>
              </a:rPr>
              <a:t>중구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2896" y="5285232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E6A62"/>
                </a:solidFill>
                <a:latin typeface="맑은 고딕"/>
              </a:rPr>
              <a:t>98.4㎡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528523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9" b="1">
                <a:solidFill>
                  <a:srgbClr val="3157F5"/>
                </a:solidFill>
                <a:latin typeface="맑은 고딕"/>
              </a:rPr>
              <a:t>월 0만원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1901952"/>
            <a:ext cx="3931920" cy="4187952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91272" y="21762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157F5"/>
                </a:solidFill>
                <a:latin typeface="맑은 고딕"/>
              </a:rPr>
              <a:t>MAP VIEW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18120" y="2834640"/>
            <a:ext cx="3383280" cy="2633472"/>
          </a:xfrm>
          <a:prstGeom prst="line">
            <a:avLst/>
          </a:prstGeom>
          <a:ln w="1143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909560" y="2606040"/>
            <a:ext cx="3200400" cy="2651760"/>
          </a:xfrm>
          <a:prstGeom prst="line">
            <a:avLst/>
          </a:prstGeom>
          <a:ln w="889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281160" y="2395728"/>
            <a:ext cx="228600" cy="3319272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321040" y="3063240"/>
            <a:ext cx="384048" cy="384048"/>
          </a:xfrm>
          <a:prstGeom prst="ellipse">
            <a:avLst/>
          </a:prstGeom>
          <a:solidFill>
            <a:srgbClr val="FF6433"/>
          </a:solidFill>
          <a:ln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163824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중</a:t>
            </a:r>
          </a:p>
        </p:txBody>
      </p:sp>
      <p:sp>
        <p:nvSpPr>
          <p:cNvPr id="49" name="Oval 48"/>
          <p:cNvSpPr/>
          <p:nvPr/>
        </p:nvSpPr>
        <p:spPr>
          <a:xfrm>
            <a:off x="9464040" y="3675887"/>
            <a:ext cx="384048" cy="384048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4040" y="3776472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북</a:t>
            </a:r>
          </a:p>
        </p:txBody>
      </p:sp>
      <p:sp>
        <p:nvSpPr>
          <p:cNvPr id="51" name="Oval 50"/>
          <p:cNvSpPr/>
          <p:nvPr/>
        </p:nvSpPr>
        <p:spPr>
          <a:xfrm>
            <a:off x="10259568" y="2944368"/>
            <a:ext cx="384048" cy="384048"/>
          </a:xfrm>
          <a:prstGeom prst="ellipse">
            <a:avLst/>
          </a:prstGeom>
          <a:solidFill>
            <a:srgbClr val="8EDBC9"/>
          </a:solidFill>
          <a:ln>
            <a:solidFill>
              <a:srgbClr val="8EDB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59568" y="3044952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동</a:t>
            </a:r>
          </a:p>
        </p:txBody>
      </p:sp>
      <p:sp>
        <p:nvSpPr>
          <p:cNvPr id="53" name="Oval 52"/>
          <p:cNvSpPr/>
          <p:nvPr/>
        </p:nvSpPr>
        <p:spPr>
          <a:xfrm>
            <a:off x="8887968" y="4754880"/>
            <a:ext cx="384048" cy="384048"/>
          </a:xfrm>
          <a:prstGeom prst="ellipse">
            <a:avLst/>
          </a:prstGeom>
          <a:solidFill>
            <a:srgbClr val="171717"/>
          </a:solidFill>
          <a:ln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87968" y="4855464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남</a:t>
            </a:r>
          </a:p>
        </p:txBody>
      </p:sp>
      <p:sp>
        <p:nvSpPr>
          <p:cNvPr id="55" name="Oval 54"/>
          <p:cNvSpPr/>
          <p:nvPr/>
        </p:nvSpPr>
        <p:spPr>
          <a:xfrm>
            <a:off x="10497312" y="4937760"/>
            <a:ext cx="384048" cy="384048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97312" y="5038344"/>
            <a:ext cx="38404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82127" y="5458968"/>
            <a:ext cx="332841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82127" y="5568696"/>
            <a:ext cx="33284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필터 결과 3곳 · 마커 자동 재배치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06 /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규칙 기반 점수로 상위 3개와 ‘추천 이유’를 제공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초기 MVP는 설명 가능성과 빠른 검증을 우선한 가중치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929384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157F5"/>
                </a:solidFill>
                <a:latin typeface="맑은 고딕"/>
              </a:rPr>
              <a:t>점수 구성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04288"/>
            <a:ext cx="1481328" cy="941832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68880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71717"/>
                </a:solidFill>
                <a:latin typeface="맑은 고딕"/>
              </a:rPr>
              <a:t>+15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62072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기본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13432" y="2304288"/>
            <a:ext cx="1481328" cy="941832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2468880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6433"/>
                </a:solidFill>
                <a:latin typeface="맑은 고딕"/>
              </a:rPr>
              <a:t>+25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862072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지역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3632" y="2304288"/>
            <a:ext cx="1481328" cy="941832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3632" y="2468880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157F5"/>
                </a:solidFill>
                <a:latin typeface="맑은 고딕"/>
              </a:rPr>
              <a:t>+30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2" y="2862072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용도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2304288"/>
            <a:ext cx="1481328" cy="941832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3832" y="2468880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AA876"/>
                </a:solidFill>
                <a:latin typeface="맑은 고딕"/>
              </a:rPr>
              <a:t>+20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2" y="2862072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예산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14032" y="2304288"/>
            <a:ext cx="1481328" cy="941832"/>
          </a:xfrm>
          <a:prstGeom prst="roundRect">
            <a:avLst/>
          </a:prstGeom>
          <a:solidFill>
            <a:srgbClr val="E4F6F1"/>
          </a:solidFill>
          <a:ln w="12700">
            <a:solidFill>
              <a:srgbClr val="E4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2468880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2AA876"/>
                </a:solidFill>
                <a:latin typeface="맑은 고딕"/>
              </a:rPr>
              <a:t>+10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862072"/>
            <a:ext cx="14813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면적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14232" y="2304288"/>
            <a:ext cx="1280160" cy="941832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4232" y="24688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71717"/>
                </a:solidFill>
                <a:latin typeface="맑은 고딕"/>
              </a:rPr>
              <a:t>+8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862072"/>
            <a:ext cx="12801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71717"/>
                </a:solidFill>
                <a:latin typeface="맑은 고딕"/>
              </a:rPr>
              <a:t>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4" y="2596896"/>
            <a:ext cx="1572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E6A62"/>
                </a:solidFill>
                <a:latin typeface="맑은 고딕"/>
              </a:rPr>
              <a:t>최대 98점으로 제한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62288" y="2761488"/>
            <a:ext cx="411479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104120" y="2240280"/>
            <a:ext cx="1115568" cy="1115568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2542032"/>
            <a:ext cx="1115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98%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730752"/>
            <a:ext cx="3730752" cy="212140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" y="3977639"/>
            <a:ext cx="1170432" cy="292608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3986783"/>
            <a:ext cx="11704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6433"/>
                </a:solidFill>
                <a:latin typeface="맑은 고딕"/>
              </a:rPr>
              <a:t>INPUT 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4462272"/>
            <a:ext cx="30449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717"/>
                </a:solidFill>
                <a:latin typeface="맑은 고딕"/>
              </a:rPr>
              <a:t>중구 · 문화·예술 · 월 40만원
최소 100㎡ · 주차 필요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542239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E6A62"/>
                </a:solidFill>
                <a:latin typeface="맑은 고딕"/>
              </a:rPr>
              <a:t>조건 변경 시 전체 공간을 다시 계산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53712" y="4754880"/>
            <a:ext cx="438912" cy="0"/>
          </a:xfrm>
          <a:prstGeom prst="line">
            <a:avLst/>
          </a:prstGeom>
          <a:ln w="25400">
            <a:solidFill>
              <a:srgbClr val="FF6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138928" y="3730752"/>
            <a:ext cx="6172200" cy="2121408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49824" y="3977639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D166"/>
                </a:solidFill>
                <a:latin typeface="맑은 고딕"/>
              </a:rPr>
              <a:t>TOP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9824" y="4370832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삼덕 청년 예술창작 유휴창고</a:t>
            </a:r>
          </a:p>
        </p:txBody>
      </p:sp>
      <p:sp>
        <p:nvSpPr>
          <p:cNvPr id="39" name="Oval 38"/>
          <p:cNvSpPr/>
          <p:nvPr/>
        </p:nvSpPr>
        <p:spPr>
          <a:xfrm>
            <a:off x="9912096" y="4114800"/>
            <a:ext cx="932688" cy="932688"/>
          </a:xfrm>
          <a:prstGeom prst="ellipse">
            <a:avLst/>
          </a:prstGeom>
          <a:solidFill>
            <a:srgbClr val="FF6433"/>
          </a:solidFill>
          <a:ln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12096" y="4370832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98%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9824" y="5056632"/>
            <a:ext cx="950976" cy="283464"/>
          </a:xfrm>
          <a:prstGeom prst="roundRect">
            <a:avLst/>
          </a:prstGeom>
          <a:solidFill>
            <a:srgbClr val="1735B8"/>
          </a:solidFill>
          <a:ln w="12700">
            <a:solidFill>
              <a:srgbClr val="173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9824" y="5065776"/>
            <a:ext cx="95097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맑은 고딕"/>
              </a:rPr>
              <a:t>선호 지역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73952" y="5056632"/>
            <a:ext cx="950976" cy="283464"/>
          </a:xfrm>
          <a:prstGeom prst="roundRect">
            <a:avLst/>
          </a:prstGeom>
          <a:solidFill>
            <a:srgbClr val="1735B8"/>
          </a:solidFill>
          <a:ln w="12700">
            <a:solidFill>
              <a:srgbClr val="173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5065776"/>
            <a:ext cx="95097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맑은 고딕"/>
              </a:rPr>
              <a:t>용도 적합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5056632"/>
            <a:ext cx="914400" cy="283464"/>
          </a:xfrm>
          <a:prstGeom prst="roundRect">
            <a:avLst/>
          </a:prstGeom>
          <a:solidFill>
            <a:srgbClr val="1735B8"/>
          </a:solidFill>
          <a:ln w="12700">
            <a:solidFill>
              <a:srgbClr val="173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5065776"/>
            <a:ext cx="9144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맑은 고딕"/>
              </a:rPr>
              <a:t>예산 이내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85632" y="5056632"/>
            <a:ext cx="914400" cy="283464"/>
          </a:xfrm>
          <a:prstGeom prst="roundRect">
            <a:avLst/>
          </a:prstGeom>
          <a:solidFill>
            <a:srgbClr val="1735B8"/>
          </a:solidFill>
          <a:ln w="12700">
            <a:solidFill>
              <a:srgbClr val="173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5632" y="5065776"/>
            <a:ext cx="9144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맑은 고딕"/>
              </a:rPr>
              <a:t>면적 충족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73184" y="5056632"/>
            <a:ext cx="914400" cy="283464"/>
          </a:xfrm>
          <a:prstGeom prst="roundRect">
            <a:avLst/>
          </a:prstGeom>
          <a:solidFill>
            <a:srgbClr val="1735B8"/>
          </a:solidFill>
          <a:ln w="12700">
            <a:solidFill>
              <a:srgbClr val="173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73184" y="5065776"/>
            <a:ext cx="9144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>
                <a:solidFill>
                  <a:srgbClr val="FFFFFF"/>
                </a:solidFill>
                <a:latin typeface="맑은 고딕"/>
              </a:rPr>
              <a:t>주차 가능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82712" y="548640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30" b="0">
                <a:solidFill>
                  <a:srgbClr val="E8EDFF"/>
                </a:solidFill>
                <a:latin typeface="맑은 고딕"/>
              </a:rPr>
              <a:t>score 내림차순 정렬 → 상위 3개 표시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07 /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상세 확인에서 저장·신청까지 전환 흐름을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브라우저를 닫아도 관심공간·신청·상태가 유지되는 프로토타입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04088" y="1993392"/>
            <a:ext cx="3364992" cy="252374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2276856"/>
            <a:ext cx="402336" cy="402336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386584"/>
            <a:ext cx="4023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717"/>
                </a:solidFill>
                <a:latin typeface="맑은 고딕"/>
              </a:rPr>
              <a:t>상세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935224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20" b="0">
                <a:solidFill>
                  <a:srgbClr val="6E6A62"/>
                </a:solidFill>
                <a:latin typeface="맑은 고딕"/>
              </a:rPr>
              <a:t>사진 · 주소 · 면적 · 임대료
시설 · 교통 · 지원 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904487"/>
            <a:ext cx="2834640" cy="347472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95928"/>
            <a:ext cx="2834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공간 자세히 보기  →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246120"/>
            <a:ext cx="28346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71416" y="1993392"/>
            <a:ext cx="3364992" cy="252374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18304" y="2276856"/>
            <a:ext cx="402336" cy="402336"/>
          </a:xfrm>
          <a:prstGeom prst="ellipse">
            <a:avLst/>
          </a:prstGeom>
          <a:solidFill>
            <a:srgbClr val="FF6433"/>
          </a:solidFill>
          <a:ln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2386584"/>
            <a:ext cx="4023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717"/>
                </a:solidFill>
                <a:latin typeface="맑은 고딕"/>
              </a:rPr>
              <a:t>관심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2935224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20" b="0">
                <a:solidFill>
                  <a:srgbClr val="6E6A62"/>
                </a:solidFill>
                <a:latin typeface="맑은 고딕"/>
              </a:rPr>
              <a:t>하트 토글 · 저장 목록
개인 관심공간 유지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27448" y="3904487"/>
            <a:ext cx="2834640" cy="347472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3995928"/>
            <a:ext cx="2834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저장한 공간 열기  →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82128" y="3246120"/>
            <a:ext cx="283464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38744" y="1993392"/>
            <a:ext cx="3364992" cy="252374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85632" y="2276856"/>
            <a:ext cx="402336" cy="402336"/>
          </a:xfrm>
          <a:prstGeom prst="ellipse">
            <a:avLst/>
          </a:prstGeom>
          <a:solidFill>
            <a:srgbClr val="2AA876"/>
          </a:solidFill>
          <a:ln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2386584"/>
            <a:ext cx="4023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1717"/>
                </a:solidFill>
                <a:latin typeface="맑은 고딕"/>
              </a:rPr>
              <a:t>방문·이용 신청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2935224"/>
            <a:ext cx="2788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20" b="0">
                <a:solidFill>
                  <a:srgbClr val="6E6A62"/>
                </a:solidFill>
                <a:latin typeface="맑은 고딕"/>
              </a:rPr>
              <a:t>이름 · 연락처 · 희망일
활용 목적 입력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94776" y="3904487"/>
            <a:ext cx="2834640" cy="347472"/>
          </a:xfrm>
          <a:prstGeom prst="round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4776" y="3995928"/>
            <a:ext cx="2834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맑은 고딕"/>
              </a:rPr>
              <a:t>신청 접수 완료  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" y="4919472"/>
            <a:ext cx="10899648" cy="978408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" y="5221224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166"/>
                </a:solidFill>
                <a:latin typeface="맑은 고딕"/>
              </a:rPr>
              <a:t>localStorage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2576" y="51389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regong_spaces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2576" y="5440680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E8EDFF"/>
                </a:solidFill>
                <a:latin typeface="맑은 고딕"/>
              </a:rPr>
              <a:t>공간/상태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51389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regong_favorites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5440680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E8EDFF"/>
                </a:solidFill>
                <a:latin typeface="맑은 고딕"/>
              </a:rPr>
              <a:t>관심공간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3136" y="51389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regong_applications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3136" y="5440680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E8EDFF"/>
                </a:solidFill>
                <a:latin typeface="맑은 고딕"/>
              </a:rPr>
              <a:t>방문·이용 신청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3416" y="513892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regong_sync_logs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3416" y="5440680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E8EDFF"/>
                </a:solidFill>
                <a:latin typeface="맑은 고딕"/>
              </a:rPr>
              <a:t>동기화 기록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08 /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운영센터에서 공간 상태와 데이터 최신성을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일반 사용자 화면뿐 아니라 제공자·관리자 관점의 운영 흐름까지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04088" y="1938528"/>
            <a:ext cx="2103120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938528"/>
            <a:ext cx="73152" cy="1298448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03120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3157F5"/>
                </a:solidFill>
                <a:latin typeface="맑은 고딕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4261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전체 등록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현재 프로토타입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938528"/>
            <a:ext cx="2103120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938528"/>
            <a:ext cx="73152" cy="1298448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103120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AA876"/>
                </a:solidFill>
                <a:latin typeface="맑은 고딕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264261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즉시 이용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926080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AVAILABLE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9512" y="1938528"/>
            <a:ext cx="2103120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39512" y="1938528"/>
            <a:ext cx="73152" cy="1298448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77256" y="2103120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F6433"/>
                </a:solidFill>
                <a:latin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5544" y="264261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리모델링 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5544" y="2926080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REMODELING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7224" y="1938528"/>
            <a:ext cx="2103120" cy="129844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07224" y="1938528"/>
            <a:ext cx="73152" cy="1298448"/>
          </a:xfrm>
          <a:prstGeom prst="rect">
            <a:avLst/>
          </a:prstGeom>
          <a:solidFill>
            <a:srgbClr val="1735B8"/>
          </a:solidFill>
          <a:ln w="12700">
            <a:solidFill>
              <a:srgbClr val="173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4968" y="2103120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735B8"/>
                </a:solidFill>
                <a:latin typeface="맑은 고딕"/>
              </a:rPr>
              <a:t>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64261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71717"/>
                </a:solidFill>
                <a:latin typeface="맑은 고딕"/>
              </a:rPr>
              <a:t>접수 신청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2926080"/>
            <a:ext cx="1691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사용자 입력에 따라 증가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74936" y="1938528"/>
            <a:ext cx="1755648" cy="1298448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74936" y="2148840"/>
            <a:ext cx="1755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D166"/>
                </a:solidFill>
                <a:latin typeface="맑은 고딕"/>
              </a:rPr>
              <a:t>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578608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맑은 고딕"/>
              </a:rPr>
              <a:t>공공데이터
동기화 시뮬레이션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" y="3566160"/>
            <a:ext cx="6967728" cy="22494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384048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157F5"/>
                </a:solidFill>
                <a:latin typeface="맑은 고딕"/>
              </a:rPr>
              <a:t>공간 상태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" y="4251960"/>
            <a:ext cx="6473952" cy="36576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4306824"/>
            <a:ext cx="3090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171717"/>
                </a:solidFill>
                <a:latin typeface="맑은 고딕"/>
              </a:rPr>
              <a:t>삼덕 청년 예술창작 유휴창고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30682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중구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306824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35만원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08192" y="4270248"/>
            <a:ext cx="1042415" cy="237744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08192" y="4279392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2AA876"/>
                </a:solidFill>
                <a:latin typeface="맑은 고딕"/>
              </a:rPr>
              <a:t>이용 가능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" y="4745736"/>
            <a:ext cx="3090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171717"/>
                </a:solidFill>
                <a:latin typeface="맑은 고딕"/>
              </a:rPr>
              <a:t>동성로 르네상스 팝업 스토어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4745736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중구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4745736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45만원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08192" y="4709159"/>
            <a:ext cx="1042415" cy="237744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8192" y="4718303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FF6433"/>
                </a:solidFill>
                <a:latin typeface="맑은 고딕"/>
              </a:rPr>
              <a:t>예약 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" y="5129784"/>
            <a:ext cx="6473952" cy="36576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0704" y="5184648"/>
            <a:ext cx="3090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171717"/>
                </a:solidFill>
                <a:latin typeface="맑은 고딕"/>
              </a:rPr>
              <a:t>달성 논공 산업단지 메이커스랩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5184648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달성군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184648"/>
            <a:ext cx="6583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E6A62"/>
                </a:solidFill>
                <a:latin typeface="맑은 고딕"/>
              </a:rPr>
              <a:t>50만원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08192" y="5148072"/>
            <a:ext cx="1042415" cy="237744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08192" y="5157216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1">
                <a:solidFill>
                  <a:srgbClr val="3157F5"/>
                </a:solidFill>
                <a:latin typeface="맑은 고딕"/>
              </a:rPr>
              <a:t>리모델링 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79" y="3566160"/>
            <a:ext cx="3575304" cy="2249424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66175" y="384048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현재 검증한 운영 액션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5" y="4297680"/>
            <a:ext cx="274320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  <a:latin typeface="맑은 고딕"/>
              </a:rPr>
              <a:t>•  전체 공간 현황 집계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  <a:latin typeface="맑은 고딕"/>
              </a:rPr>
              <a:t>•  공간 상태 즉시 변경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  <a:latin typeface="맑은 고딕"/>
              </a:rPr>
              <a:t>•  변경 결과를 사용자 목록에 반영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FFFFFF"/>
                </a:solidFill>
                <a:latin typeface="맑은 고딕"/>
              </a:rPr>
              <a:t>•  동기화 버튼과 갱신 로그 유지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5504688"/>
            <a:ext cx="27889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E8EDFF"/>
                </a:solidFill>
                <a:latin typeface="맑은 고딕"/>
              </a:rPr>
              <a:t>※ 승인/거절 워크플로는 백엔드 연동 단계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09 /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요구사항 대비 구현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완료·부분 구현·다음 단계로 구분해 현재 범위를 명확히 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13232" y="1901952"/>
            <a:ext cx="1325880" cy="4297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0824"/>
            <a:ext cx="1106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901952"/>
            <a:ext cx="4754880" cy="4297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2020824"/>
            <a:ext cx="45354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맑은 고딕"/>
              </a:rPr>
              <a:t>현재 구현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901952"/>
            <a:ext cx="960120" cy="4297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2020824"/>
            <a:ext cx="7406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맑은 고딕"/>
              </a:rPr>
              <a:t>상태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9327" y="1901952"/>
            <a:ext cx="2880360" cy="42976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5" y="2020824"/>
            <a:ext cx="2660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맑은 고딕"/>
              </a:rPr>
              <a:t>다음 연결점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331720"/>
            <a:ext cx="13258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0" y="2331720"/>
            <a:ext cx="47548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2331720"/>
            <a:ext cx="96012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9327" y="2331720"/>
            <a:ext cx="288036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47802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탐색·지도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2468879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지역/예산/면적/용도/주차 복합 검색, 마커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464308"/>
            <a:ext cx="676656" cy="265176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473451"/>
            <a:ext cx="676656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AA876"/>
                </a:solidFill>
                <a:latin typeface="맑은 고딕"/>
              </a:rPr>
              <a:t>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5" y="2468879"/>
            <a:ext cx="2697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실 API·카카오맵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2862072"/>
            <a:ext cx="132588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4560" y="2862072"/>
            <a:ext cx="475488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78040" y="2862072"/>
            <a:ext cx="96012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39327" y="2862072"/>
            <a:ext cx="288036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00837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299923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점수·순위·추천 이유·조건 변경 재계산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994660"/>
            <a:ext cx="676656" cy="265176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003803"/>
            <a:ext cx="676656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AA876"/>
                </a:solidFill>
                <a:latin typeface="맑은 고딕"/>
              </a:rPr>
              <a:t>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5" y="2999232"/>
            <a:ext cx="2697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로그 기반 가중치 개선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3392424"/>
            <a:ext cx="13258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4560" y="3392424"/>
            <a:ext cx="47548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78040" y="3392424"/>
            <a:ext cx="96012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39327" y="3392424"/>
            <a:ext cx="288036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53872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상세·관심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4288" y="352958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상세 정보, 관심 등록/해제/목록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3525012"/>
            <a:ext cx="676656" cy="265176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3534156"/>
            <a:ext cx="676656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AA876"/>
                </a:solidFill>
                <a:latin typeface="맑은 고딕"/>
              </a:rPr>
              <a:t>완료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5" y="3529584"/>
            <a:ext cx="2697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로그인 사용자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" y="3922775"/>
            <a:ext cx="132588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94560" y="3922775"/>
            <a:ext cx="475488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78040" y="3922775"/>
            <a:ext cx="96012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39327" y="3922775"/>
            <a:ext cx="288036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069079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신청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04288" y="4059935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방문일·활용 목적 입력 및 로컬 접수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0" y="4055363"/>
            <a:ext cx="676656" cy="265176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4064507"/>
            <a:ext cx="676656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6433"/>
                </a:solidFill>
                <a:latin typeface="맑은 고딕"/>
              </a:rPr>
              <a:t>부분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5" y="4059935"/>
            <a:ext cx="2697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상태 조회·승인/거절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" y="4453127"/>
            <a:ext cx="13258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194560" y="4453127"/>
            <a:ext cx="475488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78040" y="4453127"/>
            <a:ext cx="96012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39327" y="4453127"/>
            <a:ext cx="288036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4599431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관리자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04288" y="459028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공간 현황·상태 변경·동기화 시뮬레이션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4585715"/>
            <a:ext cx="676656" cy="265176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4594859"/>
            <a:ext cx="676656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6433"/>
                </a:solidFill>
                <a:latin typeface="맑은 고딕"/>
              </a:rPr>
              <a:t>부분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49055" y="4590288"/>
            <a:ext cx="2697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등록/수정·신청 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983479"/>
            <a:ext cx="132588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94560" y="4983479"/>
            <a:ext cx="475488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78040" y="4983479"/>
            <a:ext cx="96012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39327" y="4983479"/>
            <a:ext cx="2880360" cy="530352"/>
          </a:xfrm>
          <a:prstGeom prst="rect">
            <a:avLst/>
          </a:prstGeom>
          <a:solidFill>
            <a:srgbClr val="F7F3EA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" y="5129783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171717"/>
                </a:solidFill>
                <a:latin typeface="맑은 고딕"/>
              </a:rPr>
              <a:t>회원·백엔드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04288" y="512064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UI 도메인 흐름과 /api/v1 명세 확보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0" y="5116067"/>
            <a:ext cx="676656" cy="265176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0" y="5125211"/>
            <a:ext cx="676656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6E6A62"/>
                </a:solidFill>
                <a:latin typeface="맑은 고딕"/>
              </a:rPr>
              <a:t>예정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49055" y="5120640"/>
            <a:ext cx="2697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E6A62"/>
                </a:solidFill>
                <a:latin typeface="맑은 고딕"/>
              </a:rPr>
              <a:t>JWT·FastAPI·PostgreSQL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3232" y="5733288"/>
            <a:ext cx="10506456" cy="402336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" y="5843016"/>
            <a:ext cx="7589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157F5"/>
                </a:solidFill>
                <a:latin typeface="맑은 고딕"/>
              </a:rPr>
              <a:t>중간 결론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55648" y="5824728"/>
            <a:ext cx="9098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1717"/>
                </a:solidFill>
                <a:latin typeface="맑은 고딕"/>
              </a:rPr>
              <a:t>사용자 가치 검증에 필요한 프론트 흐름은 완성, 실제 서비스화를 위한 서버·인증·데이터 연동이 다음 병목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157F5"/>
                </a:solidFill>
                <a:latin typeface="맑은 고딕"/>
              </a:rPr>
              <a:t>10 / NEXT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1717"/>
                </a:solidFill>
                <a:latin typeface="맑은 고딕"/>
              </a:rPr>
              <a:t>다음 단계는 ‘로컬 프로토타입’을 ‘실서비스 구조’로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6A62"/>
                </a:solidFill>
                <a:latin typeface="맑은 고딕"/>
              </a:rPr>
              <a:t>UI는 유지하고 데이터·인증·운영 워크플로를 순차적으로 실제화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41148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E6A62"/>
                </a:solidFill>
                <a:latin typeface="맑은 고딕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73352"/>
            <a:ext cx="10881360" cy="0"/>
          </a:xfrm>
          <a:prstGeom prst="line">
            <a:avLst/>
          </a:prstGeom>
          <a:ln w="1016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04088" y="1993392"/>
            <a:ext cx="2450592" cy="29443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1993392"/>
            <a:ext cx="2450592" cy="109728"/>
          </a:xfrm>
          <a:prstGeom prst="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157F5"/>
                </a:solidFill>
                <a:latin typeface="맑은 고딕"/>
              </a:rPr>
              <a:t>NOW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6856" y="2231136"/>
            <a:ext cx="621792" cy="256032"/>
          </a:xfrm>
          <a:prstGeom prst="roundRect">
            <a:avLst/>
          </a:prstGeom>
          <a:solidFill>
            <a:srgbClr val="E8EDFF"/>
          </a:solidFill>
          <a:ln w="12700">
            <a:solidFill>
              <a:srgbClr val="E8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6856" y="2240279"/>
            <a:ext cx="6217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3157F5"/>
                </a:solidFill>
                <a:latin typeface="맑은 고딕"/>
              </a:rPr>
              <a:t>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24912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717"/>
                </a:solidFill>
                <a:latin typeface="맑은 고딕"/>
              </a:rPr>
              <a:t>프론트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19272"/>
            <a:ext cx="1984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6E6A62"/>
                </a:solidFill>
                <a:latin typeface="맑은 고딕"/>
              </a:rPr>
              <a:t>탐색·추천·저장·신청
운영센터 흐름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3447288"/>
            <a:ext cx="246888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74720" y="1993392"/>
            <a:ext cx="2450592" cy="29443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993392"/>
            <a:ext cx="2450592" cy="109728"/>
          </a:xfrm>
          <a:prstGeom prst="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3042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6433"/>
                </a:solidFill>
                <a:latin typeface="맑은 고딕"/>
              </a:rPr>
              <a:t>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2231136"/>
            <a:ext cx="621792" cy="256032"/>
          </a:xfrm>
          <a:prstGeom prst="roundRect">
            <a:avLst/>
          </a:prstGeom>
          <a:solidFill>
            <a:srgbClr val="FFE7DE"/>
          </a:solidFill>
          <a:ln w="12700">
            <a:solidFill>
              <a:srgbClr val="FFE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2240279"/>
            <a:ext cx="6217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6433"/>
                </a:solidFill>
                <a:latin typeface="맑은 고딕"/>
              </a:rPr>
              <a:t>최우선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724912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717"/>
                </a:solidFill>
                <a:latin typeface="맑은 고딕"/>
              </a:rPr>
              <a:t>백엔드 기반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319272"/>
            <a:ext cx="1984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6E6A62"/>
                </a:solidFill>
                <a:latin typeface="맑은 고딕"/>
              </a:rPr>
              <a:t>FastAPI 라우터/서비스/리포지토리
PostgreSQL 스키마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2744" y="3447288"/>
            <a:ext cx="246887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45352" y="1993392"/>
            <a:ext cx="2450592" cy="29443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1993392"/>
            <a:ext cx="2450592" cy="109728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3042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AA876"/>
                </a:solidFill>
                <a:latin typeface="맑은 고딕"/>
              </a:rPr>
              <a:t>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2231136"/>
            <a:ext cx="621792" cy="256032"/>
          </a:xfrm>
          <a:prstGeom prst="roundRect">
            <a:avLst/>
          </a:prstGeom>
          <a:solidFill>
            <a:srgbClr val="E0F3EB"/>
          </a:solidFill>
          <a:ln w="12700">
            <a:solidFill>
              <a:srgbClr val="E0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2240279"/>
            <a:ext cx="6217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2AA876"/>
                </a:solidFill>
                <a:latin typeface="맑은 고딕"/>
              </a:rPr>
              <a:t>핵심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724912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717"/>
                </a:solidFill>
                <a:latin typeface="맑은 고딕"/>
              </a:rPr>
              <a:t>인증·API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319272"/>
            <a:ext cx="1984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6E6A62"/>
                </a:solidFill>
                <a:latin typeface="맑은 고딕"/>
              </a:rPr>
              <a:t>JWT·권한 분리
data.js/localStorage 교체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23376" y="3447288"/>
            <a:ext cx="246887" cy="0"/>
          </a:xfrm>
          <a:prstGeom prst="line">
            <a:avLst/>
          </a:prstGeom>
          <a:ln w="25400">
            <a:solidFill>
              <a:srgbClr val="315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15984" y="1993392"/>
            <a:ext cx="2450592" cy="29443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15984" y="1993392"/>
            <a:ext cx="2450592" cy="109728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44584" y="23042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1717"/>
                </a:solidFill>
                <a:latin typeface="맑은 고딕"/>
              </a:rPr>
              <a:t>03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88752" y="2231136"/>
            <a:ext cx="621792" cy="256032"/>
          </a:xfrm>
          <a:prstGeom prst="roundRect">
            <a:avLst/>
          </a:prstGeom>
          <a:solidFill>
            <a:srgbClr val="EFECE5"/>
          </a:solidFill>
          <a:ln w="12700">
            <a:solidFill>
              <a:srgbClr val="EFE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88752" y="2240279"/>
            <a:ext cx="6217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171717"/>
                </a:solidFill>
                <a:latin typeface="맑은 고딕"/>
              </a:rPr>
              <a:t>완성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2724912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1717"/>
                </a:solidFill>
                <a:latin typeface="맑은 고딕"/>
              </a:rPr>
              <a:t>운영·품질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3319272"/>
            <a:ext cx="19842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>
                <a:solidFill>
                  <a:srgbClr val="6E6A62"/>
                </a:solidFill>
                <a:latin typeface="맑은 고딕"/>
              </a:rPr>
              <a:t>실데이터·지도·승인 흐름
반응형/예외/배포 테스트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" y="5276088"/>
            <a:ext cx="10762488" cy="658368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4864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D166"/>
                </a:solidFill>
                <a:latin typeface="맑은 고딕"/>
              </a:rPr>
              <a:t>성공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477256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맑은 고딕"/>
              </a:rPr>
              <a:t>✓ 실제 DB 조회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1608" y="5477256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맑은 고딕"/>
              </a:rPr>
              <a:t>✓ 권한별 API 401/403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22976" y="5477256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맑은 고딕"/>
              </a:rPr>
              <a:t>✓ 추천 결과 저장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24344" y="5477256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맑은 고딕"/>
              </a:rPr>
              <a:t>✓ 신청 승인 상태 반영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25712" y="5477256"/>
            <a:ext cx="1664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FFFFFF"/>
                </a:solidFill>
                <a:latin typeface="맑은 고딕"/>
              </a:rPr>
              <a:t>✓ 모바일 핵심 흐름 통과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510528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다시, 공간  |  중간발표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8" y="621792"/>
            <a:ext cx="124815" cy="364845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427" y="592988"/>
            <a:ext cx="124815" cy="278434"/>
          </a:xfrm>
          <a:prstGeom prst="roundRect">
            <a:avLst/>
          </a:prstGeom>
          <a:solidFill>
            <a:srgbClr val="171717"/>
          </a:solidFill>
          <a:ln w="127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3427" y="890625"/>
            <a:ext cx="124815" cy="144018"/>
          </a:xfrm>
          <a:prstGeom prst="roundRect">
            <a:avLst/>
          </a:prstGeom>
          <a:solidFill>
            <a:srgbClr val="FF6433"/>
          </a:solidFill>
          <a:ln w="12700"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3093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다시, 공간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17320"/>
            <a:ext cx="1572768" cy="329184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26464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</a:rPr>
              <a:t>60-SECOND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83664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맑은 고딕"/>
              </a:rPr>
              <a:t>발표에서는 이 흐름만
보여주면 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19672" y="1298448"/>
            <a:ext cx="438912" cy="438912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426464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752" y="1325880"/>
            <a:ext cx="40873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중구 · 문화예술 · 40만원 조건 검색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39128" y="1746504"/>
            <a:ext cx="0" cy="384048"/>
          </a:xfrm>
          <a:prstGeom prst="line">
            <a:avLst/>
          </a:prstGeom>
          <a:ln w="25400">
            <a:solidFill>
              <a:srgbClr val="173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519672" y="2157984"/>
            <a:ext cx="438912" cy="438912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286000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2185415"/>
            <a:ext cx="40873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지도 마커와 결과 목록 동시 갱신 확인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39128" y="2606039"/>
            <a:ext cx="0" cy="384049"/>
          </a:xfrm>
          <a:prstGeom prst="line">
            <a:avLst/>
          </a:prstGeom>
          <a:ln w="25400">
            <a:solidFill>
              <a:srgbClr val="173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519672" y="3017520"/>
            <a:ext cx="438912" cy="438912"/>
          </a:xfrm>
          <a:prstGeom prst="ellipse">
            <a:avLst/>
          </a:prstGeom>
          <a:solidFill>
            <a:srgbClr val="FF6433"/>
          </a:solidFill>
          <a:ln>
            <a:solidFill>
              <a:srgbClr val="FF6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145536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3044951"/>
            <a:ext cx="40873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맞춤 추천 실행 → 98%와 추천 이유 확인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39128" y="3465576"/>
            <a:ext cx="0" cy="384048"/>
          </a:xfrm>
          <a:prstGeom prst="line">
            <a:avLst/>
          </a:prstGeom>
          <a:ln w="25400">
            <a:solidFill>
              <a:srgbClr val="173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519672" y="3877056"/>
            <a:ext cx="438912" cy="438912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4005072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904488"/>
            <a:ext cx="40873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상세 → 관심 저장 → 방문·이용 신청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39128" y="4325112"/>
            <a:ext cx="0" cy="384048"/>
          </a:xfrm>
          <a:prstGeom prst="line">
            <a:avLst/>
          </a:prstGeom>
          <a:ln w="25400">
            <a:solidFill>
              <a:srgbClr val="173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519672" y="4736592"/>
            <a:ext cx="438912" cy="438912"/>
          </a:xfrm>
          <a:prstGeom prst="ellipse">
            <a:avLst/>
          </a:prstGeom>
          <a:solidFill>
            <a:srgbClr val="3157F5"/>
          </a:solidFill>
          <a:ln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864607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4764024"/>
            <a:ext cx="408736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운영센터에서 신청 수·공간 상태 확인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3968496"/>
            <a:ext cx="4983480" cy="1243584"/>
          </a:xfrm>
          <a:prstGeom prst="roundRect">
            <a:avLst/>
          </a:prstGeom>
          <a:solidFill>
            <a:srgbClr val="3157F5"/>
          </a:solidFill>
          <a:ln w="12700">
            <a:solidFill>
              <a:srgbClr val="315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" y="42519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D166"/>
                </a:solidFill>
                <a:latin typeface="맑은 고딕"/>
              </a:rPr>
              <a:t>핵심 메시지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590288"/>
            <a:ext cx="43159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“공간 정보 나열”을 넘어
조건에 맞는 공간을 행동으로 연결했습니다.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59344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D166"/>
                </a:solidFill>
                <a:latin typeface="맑은 고딕"/>
              </a:rPr>
              <a:t>THANK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971032"/>
            <a:ext cx="8321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6A62"/>
                </a:solidFill>
                <a:latin typeface="맑은 고딕"/>
              </a:rPr>
              <a:t>근거: 프젝2 소스 · 다시_공간_기획발표 (2).pptx · 다시_공간_API정의서_요구사항정의서.xlsx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다시, 공간 - 중간발표</dc:title>
  <dc:subject>대구광역시 유휴시설 추천 및 매칭 플랫폼 프론트엔드 MVP 작업 현황</dc:subject>
  <dc:creator>파이썬 1팀</dc:creator>
  <cp:keywords/>
  <dc:description>프젝2 소스, 기획발표, API·요구사항 정의서를 기준으로 작성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